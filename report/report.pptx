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200acc5bbd4371" /><Relationship Type="http://schemas.openxmlformats.org/officeDocument/2006/relationships/extended-properties" Target="/docProps/app.xml" Id="R23ba6324ff8e44cb" /><Relationship Type="http://schemas.openxmlformats.org/officeDocument/2006/relationships/officeDocument" Target="/ppt/presentation.xml" Id="R4317030686e94a73" /></Relationships>
</file>

<file path=ppt/presentation.xml><?xml version="1.0" encoding="utf-8"?>
<p:presentation xmlns:p="http://schemas.openxmlformats.org/presentationml/2006/main">
  <p:sldMasterIdLst>
    <p:sldMasterId xmlns:r="http://schemas.openxmlformats.org/officeDocument/2006/relationships" id="2147483648" r:id="R457dd78266384bcf"/>
  </p:sldMasterIdLst>
  <p:notesMasterIdLst>
    <p:notesMasterId xmlns:r="http://schemas.openxmlformats.org/officeDocument/2006/relationships" r:id="R58346923ce0b4fc9"/>
  </p:notesMasterIdLst>
  <p:sldIdLst>
    <p:sldId xmlns:r="http://schemas.openxmlformats.org/officeDocument/2006/relationships" id="256" r:id="R2af203b9fde44f39"/>
    <p:sldId xmlns:r="http://schemas.openxmlformats.org/officeDocument/2006/relationships" id="257" r:id="R4402711bc3234da3"/>
    <p:sldId xmlns:r="http://schemas.openxmlformats.org/officeDocument/2006/relationships" id="258" r:id="R38ae8eeffc2a4299"/>
    <p:sldId xmlns:r="http://schemas.openxmlformats.org/officeDocument/2006/relationships" id="259" r:id="R8e45a54276834d3e"/>
    <p:sldId xmlns:r="http://schemas.openxmlformats.org/officeDocument/2006/relationships" id="260" r:id="Re3f6a6a7cbe4401b"/>
    <p:sldId xmlns:r="http://schemas.openxmlformats.org/officeDocument/2006/relationships" id="261" r:id="R96f60745277d4faf"/>
    <p:sldId xmlns:r="http://schemas.openxmlformats.org/officeDocument/2006/relationships" id="262" r:id="R31d10698d4fd4b82"/>
    <p:sldId xmlns:r="http://schemas.openxmlformats.org/officeDocument/2006/relationships" id="263" r:id="Rabb6db6b225f4443"/>
    <p:sldId xmlns:r="http://schemas.openxmlformats.org/officeDocument/2006/relationships" id="264" r:id="Rc5750d0ccaa144d5"/>
    <p:sldId xmlns:r="http://schemas.openxmlformats.org/officeDocument/2006/relationships" id="265" r:id="R664de9fe316f46f3"/>
    <p:sldId xmlns:r="http://schemas.openxmlformats.org/officeDocument/2006/relationships" id="266" r:id="R5f4264dd58474857"/>
    <p:sldId xmlns:r="http://schemas.openxmlformats.org/officeDocument/2006/relationships" id="267" r:id="Rba1f921dc79f4c9e"/>
    <p:sldId xmlns:r="http://schemas.openxmlformats.org/officeDocument/2006/relationships" id="268" r:id="R9b5c41c8c0b447bb"/>
    <p:sldId xmlns:r="http://schemas.openxmlformats.org/officeDocument/2006/relationships" id="269" r:id="R69e1b6feff124c57"/>
    <p:sldId xmlns:r="http://schemas.openxmlformats.org/officeDocument/2006/relationships" id="270" r:id="R7a5f57654f0f4d08"/>
    <p:sldId xmlns:r="http://schemas.openxmlformats.org/officeDocument/2006/relationships" id="271" r:id="R0e0da142f9784b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c2cdbace834fa2" /><Relationship Type="http://schemas.openxmlformats.org/officeDocument/2006/relationships/slideMaster" Target="/ppt/slideMasters/slideMaster1.xml" Id="R457dd78266384bcf" /><Relationship Type="http://schemas.openxmlformats.org/officeDocument/2006/relationships/notesMaster" Target="/ppt/notesMasters/notesMaster1.xml" Id="R58346923ce0b4fc9" /><Relationship Type="http://schemas.openxmlformats.org/officeDocument/2006/relationships/presProps" Target="/ppt/presProps.xml" Id="R24367687e394455e" /><Relationship Type="http://schemas.openxmlformats.org/officeDocument/2006/relationships/tableStyles" Target="/ppt/tableStyles.xml" Id="R46c2b2eccb0c422f" /><Relationship Type="http://schemas.openxmlformats.org/officeDocument/2006/relationships/slide" Target="/ppt/slides/slide1.xml" Id="R2af203b9fde44f39" /><Relationship Type="http://schemas.openxmlformats.org/officeDocument/2006/relationships/slide" Target="/ppt/slides/slide2.xml" Id="R4402711bc3234da3" /><Relationship Type="http://schemas.openxmlformats.org/officeDocument/2006/relationships/slide" Target="/ppt/slides/slide3.xml" Id="R38ae8eeffc2a4299" /><Relationship Type="http://schemas.openxmlformats.org/officeDocument/2006/relationships/slide" Target="/ppt/slides/slide4.xml" Id="R8e45a54276834d3e" /><Relationship Type="http://schemas.openxmlformats.org/officeDocument/2006/relationships/slide" Target="/ppt/slides/slide5.xml" Id="Re3f6a6a7cbe4401b" /><Relationship Type="http://schemas.openxmlformats.org/officeDocument/2006/relationships/slide" Target="/ppt/slides/slide6.xml" Id="R96f60745277d4faf" /><Relationship Type="http://schemas.openxmlformats.org/officeDocument/2006/relationships/slide" Target="/ppt/slides/slide7.xml" Id="R31d10698d4fd4b82" /><Relationship Type="http://schemas.openxmlformats.org/officeDocument/2006/relationships/slide" Target="/ppt/slides/slide8.xml" Id="Rabb6db6b225f4443" /><Relationship Type="http://schemas.openxmlformats.org/officeDocument/2006/relationships/slide" Target="/ppt/slides/slide9.xml" Id="Rc5750d0ccaa144d5" /><Relationship Type="http://schemas.openxmlformats.org/officeDocument/2006/relationships/slide" Target="/ppt/slides/slide10.xml" Id="R664de9fe316f46f3" /><Relationship Type="http://schemas.openxmlformats.org/officeDocument/2006/relationships/slide" Target="/ppt/slides/slide11.xml" Id="R5f4264dd58474857" /><Relationship Type="http://schemas.openxmlformats.org/officeDocument/2006/relationships/slide" Target="/ppt/slides/slide12.xml" Id="Rba1f921dc79f4c9e" /><Relationship Type="http://schemas.openxmlformats.org/officeDocument/2006/relationships/slide" Target="/ppt/slides/slide13.xml" Id="R9b5c41c8c0b447bb" /><Relationship Type="http://schemas.openxmlformats.org/officeDocument/2006/relationships/slide" Target="/ppt/slides/slide14.xml" Id="R69e1b6feff124c57" /><Relationship Type="http://schemas.openxmlformats.org/officeDocument/2006/relationships/slide" Target="/ppt/slides/slide15.xml" Id="R7a5f57654f0f4d08" /><Relationship Type="http://schemas.openxmlformats.org/officeDocument/2006/relationships/slide" Target="/ppt/slides/slide16.xml" Id="R0e0da142f9784b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91e6d22714e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fb5a5a0c6d4bfe" /><Relationship Type="http://schemas.openxmlformats.org/officeDocument/2006/relationships/notesMaster" Target="/ppt/notesMasters/notesMaster1.xml" Id="R12cdf848580440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94854b18134bc9" /><Relationship Type="http://schemas.openxmlformats.org/officeDocument/2006/relationships/notesMaster" Target="/ppt/notesMasters/notesMaster1.xml" Id="Ra077185d5efe49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b815196cc44b13" /><Relationship Type="http://schemas.openxmlformats.org/officeDocument/2006/relationships/notesMaster" Target="/ppt/notesMasters/notesMaster1.xml" Id="R5acb473322644f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28f4ba29b74889" /><Relationship Type="http://schemas.openxmlformats.org/officeDocument/2006/relationships/notesMaster" Target="/ppt/notesMasters/notesMaster1.xml" Id="Rc81ab5d41c3148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2fddca15e64573" /><Relationship Type="http://schemas.openxmlformats.org/officeDocument/2006/relationships/notesMaster" Target="/ppt/notesMasters/notesMaster1.xml" Id="R7af282346dcb4b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ee0f9bb2814add" /><Relationship Type="http://schemas.openxmlformats.org/officeDocument/2006/relationships/notesMaster" Target="/ppt/notesMasters/notesMaster1.xml" Id="R756652a669de4b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0b7dd207a84bea" /><Relationship Type="http://schemas.openxmlformats.org/officeDocument/2006/relationships/notesMaster" Target="/ppt/notesMasters/notesMaster1.xml" Id="R466b5369058f4d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5705b6170c4609" /><Relationship Type="http://schemas.openxmlformats.org/officeDocument/2006/relationships/notesMaster" Target="/ppt/notesMasters/notesMaster1.xml" Id="R76d49974be2840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a0addddf0a4a4a" /><Relationship Type="http://schemas.openxmlformats.org/officeDocument/2006/relationships/notesMaster" Target="/ppt/notesMasters/notesMaster1.xml" Id="R983a746b99c24b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43e5c030bd4010" /><Relationship Type="http://schemas.openxmlformats.org/officeDocument/2006/relationships/notesMaster" Target="/ppt/notesMasters/notesMaster1.xml" Id="R6e19d080916749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7b41c2dd35417a" /><Relationship Type="http://schemas.openxmlformats.org/officeDocument/2006/relationships/notesMaster" Target="/ppt/notesMasters/notesMaster1.xml" Id="Rbb060dc46be44d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c339b5b55b4e87" /><Relationship Type="http://schemas.openxmlformats.org/officeDocument/2006/relationships/notesMaster" Target="/ppt/notesMasters/notesMaster1.xml" Id="R8fe1a4f46c964a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c9f83dbc7e4469" /><Relationship Type="http://schemas.openxmlformats.org/officeDocument/2006/relationships/notesMaster" Target="/ppt/notesMasters/notesMaster1.xml" Id="Rc30f2f1028ec4c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b3d9b2ddcb4f92" /><Relationship Type="http://schemas.openxmlformats.org/officeDocument/2006/relationships/notesMaster" Target="/ppt/notesMasters/notesMaster1.xml" Id="Ra38c12571a9a44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805d0568d04e30" /><Relationship Type="http://schemas.openxmlformats.org/officeDocument/2006/relationships/notesMaster" Target="/ppt/notesMasters/notesMaster1.xml" Id="Rf659fd3852784a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db96829e134d64" /><Relationship Type="http://schemas.openxmlformats.org/officeDocument/2006/relationships/notesMaster" Target="/ppt/notesMasters/notesMaster1.xml" Id="R8ff88387cf424d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khoảng 20 giây. Bài khảo sát cách ghép dữ liệu dashboard từ ba service và chi phí của các luồng đọc. Trình bày theo Problem, Solution, Demo, Evidence, Trade-off. Thêm tên nhóm/thành viên vào bìa trước khi nộp nếu cần. Thiết kế xanh–trắng tham khảo mẫu Canva của Sron Creative Studio, không sử dụng file template Canva gốc.</a:t>
            </a:r>
          </a:p>
          <a:p xmlns:a="http://schemas.openxmlformats.org/drawingml/2006/main">
            <a:r>
              <a:t>Mẫu tham khảo: https://www.canva.com/templates/EAHB6sGHMn4-blue-and-white-modern-minimalist-software-development-proposal-presentation/</a:t>
            </a:r>
          </a:p>
          <a:p xmlns:a="http://schemas.openxmlformats.org/drawingml/2006/main">
            <a:r>
              <a:t>Nền: hình AI nguyên bản, prompt “minimal software systems network on white, thin cobalt blue lines, sparse right-edge composition, empty left-middle, no text or logo”, tạo bằng ImageGen built-in.</a:t>
            </a:r>
          </a:p>
          <a:p xmlns:a="http://schemas.openxmlformats.org/drawingml/2006/main">
            <a:r>
              <a:t/>
            </a:r>
          </a:p>
          <a:p xmlns:a="http://schemas.openxmlformats.org/drawingml/2006/main">
            <a:r>
              <a:t>Nguồn nội dung: D:/Nam4/HK1/PTUDWNC/W2/Week-2---Advanced-Web-Development/docs/00-plan.md</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40 giây. Một service riêng không đủ dữ liệu dựng dashboard. Ba service sở hữu dữ liệu độc lập, Order liên kết bằng userId và productId. Các đường trong sơ đồ biểu thị dữ liệu cần để ghép màn hình, không phải các service trực tiếp gọi dashboard. Baseline ghép ở browser, BFF/GraphQL ghép ở gateway. Không đọc chéo JSON để bỏ qua ranh giới service.</a:t>
            </a:r>
          </a:p>
          <a:p xmlns:a="http://schemas.openxmlformats.org/drawingml/2006/main">
            <a:r>
              <a:t/>
            </a:r>
          </a:p>
          <a:p xmlns:a="http://schemas.openxmlformats.org/drawingml/2006/main">
            <a:r>
              <a:t>Nguồn nội dung: D:/Nam4/HK1/PTUDWNC/W2/Week-2---Advanced-Web-Development/shared/service.js</a:t>
            </a:r>
          </a:p>
          <a:p xmlns:a="http://schemas.openxmlformats.org/drawingml/2006/main">
            <a:r>
              <a:t>D:/Nam4/HK1/PTUDWNC/W2/Week-2---Advanced-Web-Development/services/user/index.js</a:t>
            </a:r>
          </a:p>
          <a:p xmlns:a="http://schemas.openxmlformats.org/drawingml/2006/main">
            <a:r>
              <a:t>D:/Nam4/HK1/PTUDWNC/W2/Week-2---Advanced-Web-Development/services/order/index.js</a:t>
            </a:r>
          </a:p>
          <a:p xmlns:a="http://schemas.openxmlformats.org/drawingml/2006/main">
            <a:r>
              <a:t>D:/Nam4/HK1/PTUDWNC/W2/Week-2---Advanced-Web-Development/services/product/index.js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45 giây. Thầy cho dùng JSON nên nhóm tránh cài DB engine. User/Product dùng Map, Order lọc mảng theo userId. Query counter là thao tác repository, không phải SQL hoặc đọc đĩa. Chọn một product/đơn để N+1 dễ quan sát. Product lặp kiểm tra dedup. unitPrice nằm trong đơn và UI dùng giá đó; có thể giải thích là giá ghi nhận của đơn, nhưng seed hiện đặt bằng Product.price và chưa có test đổi giá lịch sử. Dataset small có 8 đơn tổng cộng vì u2 thêm 3 đơn; chỉ 5 đơn của u1 xuất hiện trên màn hình.</a:t>
            </a:r>
          </a:p>
          <a:p xmlns:a="http://schemas.openxmlformats.org/drawingml/2006/main">
            <a:r>
              <a:t/>
            </a:r>
          </a:p>
          <a:p xmlns:a="http://schemas.openxmlformats.org/drawingml/2006/main">
            <a:r>
              <a:t>Nguồn nội dung: D:/Nam4/HK1/PTUDWNC/W2/Week-2---Advanced-Web-Development/scripts/seed.js</a:t>
            </a:r>
          </a:p>
          <a:p xmlns:a="http://schemas.openxmlformats.org/drawingml/2006/main">
            <a:r>
              <a:t>D:/Nam4/HK1/PTUDWNC/W2/Week-2---Advanced-Web-Development/shared/service.js</a:t>
            </a:r>
          </a:p>
          <a:p xmlns:a="http://schemas.openxmlformats.org/drawingml/2006/main">
            <a:r>
              <a:t>D:/Nam4/HK1/PTUDWNC/W2/Week-2---Advanced-Web-Development/shared/contract.js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45 giây. Baseline trong web/fetchers.js await user, await orders rồi vòng lặp await từng product. N+1 phía client gồm một call lấy đơn và N call product, thêm một call User nên toàn luồng N+2. Waterfall là ảnh evidence small từ repo, thanh xanh request và vạch đỏ done. Đây là baseline tuần tự theo đề, không kết luận mọi REST đều chậm. Browser có thể được tối ưu bằng song song, dedup hay batch ở một phép đối chứng khác.</a:t>
            </a:r>
          </a:p>
          <a:p xmlns:a="http://schemas.openxmlformats.org/drawingml/2006/main">
            <a:r>
              <a:t/>
            </a:r>
          </a:p>
          <a:p xmlns:a="http://schemas.openxmlformats.org/drawingml/2006/main">
            <a:r>
              <a:t>Nguồn nội dung: D:/Nam4/HK1/PTUDWNC/W2/Week-2---Advanced-Web-Development/web/fetchers.js</a:t>
            </a:r>
          </a:p>
          <a:p xmlns:a="http://schemas.openxmlformats.org/drawingml/2006/main">
            <a:r>
              <a:t>D:/Nam4/HK1/PTUDWNC/W2/Week-2---Advanced-Web-Development/results/waterfall-small-baseline.png</a:t>
            </a:r>
          </a:p>
          <a:p xmlns:a="http://schemas.openxmlformats.org/drawingml/2006/main">
            <a:r>
              <a:t>D:/Nam4/HK1/PTUDWNC/W2/Week-2---Advanced-Web-Development/results/raw.csv</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BFF gọi User và Order bằng Promise.all, sau đó lấy productId từ orders, loại trùng bằng Set và gọi batch Product. Gateway điều phối tất cả call. Với N&gt;0, luồng bình thường có một call User, một Order và một Product. Nếu không có đơn thì bỏ Product. Response contract gắn với web. BFF không đồng nghĩa chỉ có routing gateway. Khi thầy hỏi, mở gateway/bff.js và chỉ Promise.all, Set, getProductsByIds, Map.</a:t>
            </a:r>
          </a:p>
          <a:p xmlns:a="http://schemas.openxmlformats.org/drawingml/2006/main">
            <a:r>
              <a:t/>
            </a:r>
          </a:p>
          <a:p xmlns:a="http://schemas.openxmlformats.org/drawingml/2006/main">
            <a:r>
              <a:t>Nguồn nội dung: D:/Nam4/HK1/PTUDWNC/W2/Week-2---Advanced-Web-Development/gateway/bff.js</a:t>
            </a:r>
          </a:p>
          <a:p xmlns:a="http://schemas.openxmlformats.org/drawingml/2006/main">
            <a:r>
              <a:t>D:/Nam4/HK1/PTUDWNC/W2/Week-2---Advanced-Web-Development/gateway/index.js</a:t>
            </a:r>
          </a:p>
          <a:p xmlns:a="http://schemas.openxmlformats.org/drawingml/2006/main">
            <a:r>
              <a:t>D:/Nam4/HK1/PTUDWNC/W2/Week-2---Advanced-Web-Development/results/trace-bff-small.log</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Các resolver theo cây lấy user rồi orders. Mỗi Order.product gọi REST lẻ ở chế độ naive. Browser Network chỉ nhìn một request GraphQL nên cần metrics/trace nội bộ. N call Product naive có thể chạy chồng thời gian, không có nghĩa tuần tự như baseline. N+1 nói về một danh sách và N quan hệ liên quan; tổng ba service ở đây N+2. Evidence số 5/200 từ trace và verify, không phải đoán số call.</a:t>
            </a:r>
          </a:p>
          <a:p xmlns:a="http://schemas.openxmlformats.org/drawingml/2006/main">
            <a:r>
              <a:t/>
            </a:r>
          </a:p>
          <a:p xmlns:a="http://schemas.openxmlformats.org/drawingml/2006/main">
            <a:r>
              <a:t>Nguồn nội dung: D:/Nam4/HK1/PTUDWNC/W2/Week-2---Advanced-Web-Development/gateway/graphql.js</a:t>
            </a:r>
          </a:p>
          <a:p xmlns:a="http://schemas.openxmlformats.org/drawingml/2006/main">
            <a:r>
              <a:t>D:/Nam4/HK1/PTUDWNC/W2/Week-2---Advanced-Web-Development/results/trace-graphql-naive-small.log</a:t>
            </a:r>
          </a:p>
          <a:p xmlns:a="http://schemas.openxmlformats.org/drawingml/2006/main">
            <a:r>
              <a:t>D:/Nam4/HK1/PTUDWNC/W2/Week-2---Advanced-Web-Development/results/trace-graphql-naive-large.log</a:t>
            </a:r>
          </a:p>
          <a:p xmlns:a="http://schemas.openxmlformats.org/drawingml/2006/main">
            <a:r>
              <a:t>D:/Nam4/HK1/PTUDWNC/W2/Week-2---Advanced-Web-Development/scripts/verify.js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Loader mới theo context request, cache/memoization chỉ sống trong request. Nhiều load được gom cùng đợt, key trùng dùng chung. Điều quyết định là hàm batch gọi API batch thật; Promise.all của N fetch lẻ không sửa số call. Trả cùng thứ tự và độ dài bằng ids.map. Bản mới trả Error đúng vị trí cho ID thiếu, GraphQL đặt product null và lỗi đúng path. Hai request GraphQL tạo hai call Product, có test xác nhận. Một call không có nghĩa xử lý O(1): duyệt N đơn, U product và output vẫn tăng.</a:t>
            </a:r>
          </a:p>
          <a:p xmlns:a="http://schemas.openxmlformats.org/drawingml/2006/main">
            <a:r>
              <a:t/>
            </a:r>
          </a:p>
          <a:p xmlns:a="http://schemas.openxmlformats.org/drawingml/2006/main">
            <a:r>
              <a:t>Nguồn nội dung: D:/Nam4/HK1/PTUDWNC/W2/Week-2---Advanced-Web-Development/gateway/graphql.js</a:t>
            </a:r>
          </a:p>
          <a:p xmlns:a="http://schemas.openxmlformats.org/drawingml/2006/main">
            <a:r>
              <a:t>D:/Nam4/HK1/PTUDWNC/W2/Week-2---Advanced-Web-Development/services/product/index.js</a:t>
            </a:r>
          </a:p>
          <a:p xmlns:a="http://schemas.openxmlformats.org/drawingml/2006/main">
            <a:r>
              <a:t>D:/Nam4/HK1/PTUDWNC/W2/Week-2---Advanced-Web-Development/tests/gateway.test.js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55 giây. Hai dataset nhân bốn biến thể: baseline, BFF, GraphQL naive, loader. Mỗi cấu hình restart cả bốn process, một cold rồi năm warm. Reset metrics trước mỗi lần, browser context mới. Median và min–max chỉ của năm warm. Cold chỉ một mẫu mỗi cấu hình. Query counter không phải DB engine. Done sau cập nhật DOM, chưa đo paint hoặc ảnh tải xong. Payload response body không gồm headers/request query. Cùng dữ liệu và render giảm nhiễu, nhưng BFF song song User/Order, GraphQL nối tiếp nên thời gian còn phản ánh scheduling. Bảng raw 48 mẫu có sẵn trong repo; đã tính lại summary, chưa bench lại máy này.</a:t>
            </a:r>
          </a:p>
          <a:p xmlns:a="http://schemas.openxmlformats.org/drawingml/2006/main">
            <a:r>
              <a:t/>
            </a:r>
          </a:p>
          <a:p xmlns:a="http://schemas.openxmlformats.org/drawingml/2006/main">
            <a:r>
              <a:t>Nguồn nội dung: D:/Nam4/HK1/PTUDWNC/W2/Week-2---Advanced-Web-Development/scripts/bench.js</a:t>
            </a:r>
          </a:p>
          <a:p xmlns:a="http://schemas.openxmlformats.org/drawingml/2006/main">
            <a:r>
              <a:t>D:/Nam4/HK1/PTUDWNC/W2/Week-2---Advanced-Web-Development/shared/service.js</a:t>
            </a:r>
          </a:p>
          <a:p xmlns:a="http://schemas.openxmlformats.org/drawingml/2006/main">
            <a:r>
              <a:t>D:/Nam4/HK1/PTUDWNC/W2/Week-2---Advanced-Web-Development/web/app.js</a:t>
            </a:r>
          </a:p>
          <a:p xmlns:a="http://schemas.openxmlformats.org/drawingml/2006/main">
            <a:r>
              <a:t>D:/Nam4/HK1/PTUDWNC/W2/Week-2---Advanced-Web-Development/results/raw.csv</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Đây là số benchmark lưu trong repo, chưa phải bench mới trên máy hiện tại. Large baseline warm median 475.1 [427.7–566.2], BFF 66 [59.4–87.2], naive 146.2 [121.9–236.6], loader 76.8 [69–140.2] ms. BFF thấp nhất trong lần đo này, chưa chứng minh luôn thắng. BFF và loader có khoảng chồng nhau. Small naive còn thấp hơn loader, xem phụ lục. Localhost, JSON RAM, một user, không tải đồng thời. Không gán chênh lệch hoàn toàn cho vị trí composition vì batching và scheduling khác. Chart native có dữ liệu editable.</a:t>
            </a:r>
          </a:p>
          <a:p xmlns:a="http://schemas.openxmlformats.org/drawingml/2006/main">
            <a:r>
              <a:t/>
            </a:r>
          </a:p>
          <a:p xmlns:a="http://schemas.openxmlformats.org/drawingml/2006/main">
            <a:r>
              <a:t>Nguồn nội dung: D:/Nam4/HK1/PTUDWNC/W2/Week-2---Advanced-Web-Development/results/raw.csv</a:t>
            </a:r>
          </a:p>
          <a:p xmlns:a="http://schemas.openxmlformats.org/drawingml/2006/main">
            <a:r>
              <a:t>D:/Nam4/HK1/PTUDWNC/W2/Week-2---Advanced-Web-Development/results/summary.md</a:t>
            </a:r>
          </a:p>
          <a:p xmlns:a="http://schemas.openxmlformats.org/drawingml/2006/main">
            <a:r>
              <a:t>D:/Nam4/HK1/PTUDWNC/W2/Week-2---Advanced-Web-Development/docs/04-measurement.md</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55 giây. Cùng policy partial BFF và GraphQL, baseline cũng bắt lỗi product. Product nullable giúp giữ orders khi field thất bại. Không bịa tên hoặc Product.price; Order.unitPrice vẫn là dữ liệu Order. 1000 ms là ngưỡng demo, chưa tối ưu theo SLO. Verify chạy lại small slow ghi baseline khoảng 5067 ms, BFF 1054 ms, GraphQL 1063 ms: đây là fetcher Node, không browser done. Abort fetch không bảo đảm hủy xử lý Product. Chỉ Product có timeout, User/Order chưa có. Ảnh là evidence lỗi 503 được repo lưu, không ảnh tạo mô phỏng.</a:t>
            </a:r>
          </a:p>
          <a:p xmlns:a="http://schemas.openxmlformats.org/drawingml/2006/main">
            <a:r>
              <a:t/>
            </a:r>
          </a:p>
          <a:p xmlns:a="http://schemas.openxmlformats.org/drawingml/2006/main">
            <a:r>
              <a:t>Nguồn nội dung: D:/Nam4/HK1/PTUDWNC/W2/Week-2---Advanced-Web-Development/shared/contract.js</a:t>
            </a:r>
          </a:p>
          <a:p xmlns:a="http://schemas.openxmlformats.org/drawingml/2006/main">
            <a:r>
              <a:t>D:/Nam4/HK1/PTUDWNC/W2/Week-2---Advanced-Web-Development/gateway/bff.js</a:t>
            </a:r>
          </a:p>
          <a:p xmlns:a="http://schemas.openxmlformats.org/drawingml/2006/main">
            <a:r>
              <a:t>D:/Nam4/HK1/PTUDWNC/W2/Week-2---Advanced-Web-Development/gateway/graphql.js</a:t>
            </a:r>
          </a:p>
          <a:p xmlns:a="http://schemas.openxmlformats.org/drawingml/2006/main">
            <a:r>
              <a:t>D:/Nam4/HK1/PTUDWNC/W2/Week-2---Advanced-Web-Development/results/fault-error-graphql.png</a:t>
            </a:r>
          </a:p>
          <a:p xmlns:a="http://schemas.openxmlformats.org/drawingml/2006/main">
            <a:r>
              <a:t>D:/Nam4/HK1/PTUDWNC/W2/Week-2---Advanced-Web-Development/docs/05-fault.md</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Dành 90 giây hoặc dài hơn nếu thầy hỏi. Mở npm start với DATASET=small GQL_MODE=loader PRODUCT_FAULT=none. Khi đọc Product metrics, POST /metrics/reset trước một lần reload duy nhất. GET /metrics không tính vào call. Baseline Product=5, BFF=1, loader=1. Đổi naive cần dừng rồi khởi động lại GQL_MODE=naive. Product lỗi dùng PRODUCT_FAULT=error. Có thể mở GraphiQL tại /graphql để bỏ/thêm field. Không chạy npm run trace/verify/bench cùng npm start vì chúng tự bật stack. Bản mới từ chối cổng bận để tránh đo nhầm server cũ. Kết thúc đặt lại loader/none. Demo phải chạy thật, ảnh chỉ là evidence hỗ trợ.</a:t>
            </a:r>
          </a:p>
          <a:p xmlns:a="http://schemas.openxmlformats.org/drawingml/2006/main">
            <a:r>
              <a:t/>
            </a:r>
          </a:p>
          <a:p xmlns:a="http://schemas.openxmlformats.org/drawingml/2006/main">
            <a:r>
              <a:t>Nguồn nội dung: D:/Nam4/HK1/PTUDWNC/W2/Week-2---Advanced-Web-Development/README.md</a:t>
            </a:r>
          </a:p>
          <a:p xmlns:a="http://schemas.openxmlformats.org/drawingml/2006/main">
            <a:r>
              <a:t>D:/Nam4/HK1/PTUDWNC/W2/Week-2---Advanced-Web-Development/scripts/lib/stack.js</a:t>
            </a:r>
          </a:p>
          <a:p xmlns:a="http://schemas.openxmlformats.org/drawingml/2006/main">
            <a:r>
              <a:t>D:/Nam4/HK1/PTUDWNC/W2/Week-2---Advanced-Web-Development/scripts/smoke.js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50 giây. BFF phù hợp ít client và contract ổn định; GraphQL linh hoạt chọn trường khi nhiều nhu cầu khác nhau nhưng cần quản lý resolver/cost/authorization. BFF có thể dùng GraphQL, đây không phải hai khái niệm đối lập. REST cũng có thể batch và song song. Kết quả chính: GraphQL naive vẫn N+1 dù một request, loader giảm Product call về một ở dataset bài. Repo thiếu mobile BFF endpoint/query và đo mobile nên chưa hoàn tất mọi yêu cầu thầy. 20 test và verify chỉ bao phủ case đã chạy. Kết thúc và mời câu hỏi; các slide sau là phụ lục, chỉ mở khi cần.</a:t>
            </a:r>
          </a:p>
          <a:p xmlns:a="http://schemas.openxmlformats.org/drawingml/2006/main">
            <a:r>
              <a:t/>
            </a:r>
          </a:p>
          <a:p xmlns:a="http://schemas.openxmlformats.org/drawingml/2006/main">
            <a:r>
              <a:t>Nguồn nội dung: D:/Nam4/HK1/PTUDWNC/W2/Week-2---Advanced-Web-Development/docs/06-tradeoffs.md</a:t>
            </a:r>
          </a:p>
          <a:p xmlns:a="http://schemas.openxmlformats.org/drawingml/2006/main">
            <a:r>
              <a:t>D:/Nam4/HK1/PTUDWNC/W2/Week-2---Advanced-Web-Development/docs/00-plan.md</a:t>
            </a:r>
          </a:p>
          <a:p xmlns:a="http://schemas.openxmlformats.org/drawingml/2006/main">
            <a:r>
              <a:t>D:/Nam4/HK1/PTUDWNC/W2/Week-2---Advanced-Web-Development/tests/gateway.test.js</a:t>
            </a:r>
          </a:p>
          <a:p xmlns:a="http://schemas.openxmlformats.org/drawingml/2006/main">
            <a:r>
              <a:t>D:/Nam4/HK1/PTUDWNC/W2/Week-2---Advanced-Web-Development/results/verify.txt</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mở khi thầy hỏi vì sao chọn và sao không dùng phương án khác. Không nói các lựa chọn khác kém. JSON không giải quyết lưu trữ đồng thời; fetch có sẵn đã đủ gọi JSON và timeout; Express/ESM đủ cho repo nhỏ. Docker/TypeScript/NestJS hữu ích khi môi trường và quy mô yêu cầu. BFF gắn theo client, GraphQL là query/schema, có thể kết hợp. Chính API batch giảm call, không phải tên thư viện. Partial phù hợp dashboard đọc, chưa được phép áp dụng mặc định cho thanh toán.</a:t>
            </a:r>
          </a:p>
          <a:p xmlns:a="http://schemas.openxmlformats.org/drawingml/2006/main">
            <a:r>
              <a:t/>
            </a:r>
          </a:p>
          <a:p xmlns:a="http://schemas.openxmlformats.org/drawingml/2006/main">
            <a:r>
              <a:t>Nguồn nội dung: D:/Nam4/HK1/PTUDWNC/W2/Week-2---Advanced-Web-Development/docs/00-plan.md</a:t>
            </a:r>
          </a:p>
          <a:p xmlns:a="http://schemas.openxmlformats.org/drawingml/2006/main">
            <a:r>
              <a:t>D:/Nam4/HK1/PTUDWNC/W2/Week-2---Advanced-Web-Development/gateway/bff.js</a:t>
            </a:r>
          </a:p>
          <a:p xmlns:a="http://schemas.openxmlformats.org/drawingml/2006/main">
            <a:r>
              <a:t>D:/Nam4/HK1/PTUDWNC/W2/Week-2---Advanced-Web-Development/gateway/graphql.js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nguyên bản raw.csv và summary.md trong repo. Đã tính lại các median/min/max bằng dữ liệu thô và khớp summary. Bảng không đưa cold vào median warm. Cold lần lượt small:151.2,122.9,145.6,123; large:821.8,125.1,335.6,196.9 ms. Không có error bar trên chart chính nên mở bảng này khi cần khoảng dao động. Cả tám cấu hình User/Order đều 1 call/1 repository query; Product call/query là N hoặc 1 trong chạy bình thường.</a:t>
            </a:r>
          </a:p>
          <a:p xmlns:a="http://schemas.openxmlformats.org/drawingml/2006/main">
            <a:r>
              <a:t/>
            </a:r>
          </a:p>
          <a:p xmlns:a="http://schemas.openxmlformats.org/drawingml/2006/main">
            <a:r>
              <a:t>Nguồn nội dung: D:/Nam4/HK1/PTUDWNC/W2/Week-2---Advanced-Web-Development/results/raw.csv</a:t>
            </a:r>
          </a:p>
          <a:p xmlns:a="http://schemas.openxmlformats.org/drawingml/2006/main">
            <a:r>
              <a:t>D:/Nam4/HK1/PTUDWNC/W2/Week-2---Advanced-Web-Development/results/summary.md</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là median warm của năm mẫu ở dataset small. Không quy tất cả chênh lệch cho nhiễu hoặc overhead nếu chưa profile. Đó là các giải thích có thể góp phần. Promise.all/GraphQL resolver concurrent có thể nhanh ở N nhỏ nhưng giữ N call và tăng tải dependency. Min/max small naive [60.7–71], loader [70.1–87], BFF [58.7–156.4], không đủ khẳng định thứ hạng chung. Test tải đồng thời, dataset và mạng thật sẽ bổ sung evidence. Một HTTP call batch không làm độ phức tạp xử lý/payload O(1).</a:t>
            </a:r>
          </a:p>
          <a:p xmlns:a="http://schemas.openxmlformats.org/drawingml/2006/main">
            <a:r>
              <a:t/>
            </a:r>
          </a:p>
          <a:p xmlns:a="http://schemas.openxmlformats.org/drawingml/2006/main">
            <a:r>
              <a:t>Nguồn nội dung: D:/Nam4/HK1/PTUDWNC/W2/Week-2---Advanced-Web-Development/results/summary.md</a:t>
            </a:r>
          </a:p>
          <a:p xmlns:a="http://schemas.openxmlformats.org/drawingml/2006/main">
            <a:r>
              <a:t>D:/Nam4/HK1/PTUDWNC/W2/Week-2---Advanced-Web-Development/gateway/graphql.js</a:t>
            </a:r>
          </a:p>
          <a:p xmlns:a="http://schemas.openxmlformats.org/drawingml/2006/main">
            <a:r>
              <a:t>D:/Nam4/HK1/PTUDWNC/W2/Week-2---Advanced-Web-Development/docs/04-measurement.md</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lỗi 503 trước repository: serviceCalls tăng, dbQueries không tăng. Missing product batch trả Error theo key và BFF thêm error path tương ứng, test mới xác nhận. Product! có thể gây null propagation làm mất orders/user; product nullable phù hợp partial. HTTP 200 trong partial không đồng nghĩa tất cả field thành công, client đọc errors. User không có -&gt; null không errors; User Service sập -&gt; null có errors và fetcher mới ném lỗi. Error message lẻ và batch khác nhau, verify lỗi so path chứ không so message. Timeout Product là từng call không phải ngân sách toàn màn hình. MaskedErrors false dùng cho demo và code chưa có auth/query depth limits.</a:t>
            </a:r>
          </a:p>
          <a:p xmlns:a="http://schemas.openxmlformats.org/drawingml/2006/main">
            <a:r>
              <a:t/>
            </a:r>
          </a:p>
          <a:p xmlns:a="http://schemas.openxmlformats.org/drawingml/2006/main">
            <a:r>
              <a:t>Nguồn nội dung: D:/Nam4/HK1/PTUDWNC/W2/Week-2---Advanced-Web-Development/gateway/graphql.js</a:t>
            </a:r>
          </a:p>
          <a:p xmlns:a="http://schemas.openxmlformats.org/drawingml/2006/main">
            <a:r>
              <a:t>D:/Nam4/HK1/PTUDWNC/W2/Week-2---Advanced-Web-Development/gateway/bff.js</a:t>
            </a:r>
          </a:p>
          <a:p xmlns:a="http://schemas.openxmlformats.org/drawingml/2006/main">
            <a:r>
              <a:t>D:/Nam4/HK1/PTUDWNC/W2/Week-2---Advanced-Web-Development/shared/service.js</a:t>
            </a:r>
          </a:p>
          <a:p xmlns:a="http://schemas.openxmlformats.org/drawingml/2006/main">
            <a:r>
              <a:t>D:/Nam4/HK1/PTUDWNC/W2/Week-2---Advanced-Web-Development/web/fetchers.js</a:t>
            </a:r>
          </a:p>
          <a:p xmlns:a="http://schemas.openxmlformats.org/drawingml/2006/main">
            <a:r>
              <a:t>D:/Nam4/HK1/PTUDWNC/W2/Week-2---Advanced-Web-Development/tests/gateway.test.js</a:t>
            </a:r>
          </a:p>
          <a:p xmlns:a="http://schemas.openxmlformats.org/drawingml/2006/main">
            <a:r>
              <a:t>Repo: https://github.com/JayceCoder21012005/Week-2---Advanced-Web-Development (commit 74e5206).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1a3105856a4c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207b795c2e46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548986608b47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7867bf62bf42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94cdf2f4d840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981ab736814b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70ED0-F1CA-4F74-A99B-43C7FEF9D1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01E5E9-4FFB-4CB4-8E06-CD424A70BB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5861D0-0F8D-487A-B1F6-A40C62397D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BC6275-A010-44C1-ACC2-FB29588FBD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EBE338-ED3E-454C-A7D1-C2735B3BD18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6CF5C8-301F-4ECD-81D3-D0FE851A08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CEA856-A09D-4382-9C63-3F08E0EC6E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90FFFE-B7C4-4D10-A852-A24178F3A6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8A8458-D236-447A-90CD-AFDF28D8A2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C6CA25-49F5-45F3-81C7-17D2B6C061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712caa468e4e99" /><Relationship Type="http://schemas.openxmlformats.org/officeDocument/2006/relationships/slideLayout" Target="/ppt/slideLayouts/slideLayout1.xml" Id="Ra539e4e785ac4216" /><Relationship Type="http://schemas.openxmlformats.org/officeDocument/2006/relationships/slideLayout" Target="/ppt/slideLayouts/slideLayout2.xml" Id="R7cb52109c8fc4539" /><Relationship Type="http://schemas.openxmlformats.org/officeDocument/2006/relationships/slideLayout" Target="/ppt/slideLayouts/slideLayout3.xml" Id="R2db5f62219d74462" /><Relationship Type="http://schemas.openxmlformats.org/officeDocument/2006/relationships/slideLayout" Target="/ppt/slideLayouts/slideLayout4.xml" Id="R51e833a6aba94f08" /><Relationship Type="http://schemas.openxmlformats.org/officeDocument/2006/relationships/slideLayout" Target="/ppt/slideLayouts/slideLayout5.xml" Id="Raac2753eec96487d" /><Relationship Type="http://schemas.openxmlformats.org/officeDocument/2006/relationships/slideLayout" Target="/ppt/slideLayouts/slideLayout6.xml" Id="R7b5a639f492b4b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39e4e785ac4216"/>
    <p:sldLayoutId xmlns:r="http://schemas.openxmlformats.org/officeDocument/2006/relationships" id="2147483650" r:id="R7cb52109c8fc4539"/>
    <p:sldLayoutId xmlns:r="http://schemas.openxmlformats.org/officeDocument/2006/relationships" id="2147483651" r:id="R2db5f62219d74462"/>
    <p:sldLayoutId xmlns:r="http://schemas.openxmlformats.org/officeDocument/2006/relationships" id="2147483652" r:id="R51e833a6aba94f08"/>
    <p:sldLayoutId xmlns:r="http://schemas.openxmlformats.org/officeDocument/2006/relationships" id="2147483653" r:id="Raac2753eec96487d"/>
    <p:sldLayoutId xmlns:r="http://schemas.openxmlformats.org/officeDocument/2006/relationships" id="2147483654" r:id="R7b5a639f492b4b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c11875cf8f4070" /><Relationship Type="http://schemas.openxmlformats.org/officeDocument/2006/relationships/image" Target="/ppt/media/image.png" Id="R2c64289fde254db5" /><Relationship Type="http://schemas.openxmlformats.org/officeDocument/2006/relationships/notesSlide" Target="/ppt/notesSlides/notesSlide1.xml" Id="R4a92aebdeeb74a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6ad373071b4e4f" /><Relationship Type="http://schemas.openxmlformats.org/officeDocument/2006/relationships/notesSlide" Target="/ppt/notesSlides/notesSlide2.xml" Id="R486292375bcb41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fee631d24d4dd1" /><Relationship Type="http://schemas.openxmlformats.org/officeDocument/2006/relationships/notesSlide" Target="/ppt/notesSlides/notesSlide3.xml" Id="R02619e4726414a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299c8f94a84c19" /><Relationship Type="http://schemas.openxmlformats.org/officeDocument/2006/relationships/image" Target="/ppt/media/image2.png" Id="Ree6001ca824b4eba" /><Relationship Type="http://schemas.openxmlformats.org/officeDocument/2006/relationships/notesSlide" Target="/ppt/notesSlides/notesSlide4.xml" Id="R7b621a1df93b4d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7537cce0214edb" /><Relationship Type="http://schemas.openxmlformats.org/officeDocument/2006/relationships/notesSlide" Target="/ppt/notesSlides/notesSlide5.xml" Id="R1f5436c3a21644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afbe96725a41cd" /><Relationship Type="http://schemas.openxmlformats.org/officeDocument/2006/relationships/notesSlide" Target="/ppt/notesSlides/notesSlide6.xml" Id="R9c770e2f076c42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6874a2eb3f4ac9" /><Relationship Type="http://schemas.openxmlformats.org/officeDocument/2006/relationships/notesSlide" Target="/ppt/notesSlides/notesSlide7.xml" Id="R6587d5ae8c0649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30ffff76c624b10" /><Relationship Type="http://schemas.openxmlformats.org/officeDocument/2006/relationships/notesSlide" Target="/ppt/notesSlides/notesSlide8.xml" Id="Rc66095315eaf4a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be94bbf3c1c4d1a" /><Relationship Type="http://schemas.openxmlformats.org/officeDocument/2006/relationships/image" Target="/ppt/media/image3.png" Id="Re806286358d74d6e" /><Relationship Type="http://schemas.openxmlformats.org/officeDocument/2006/relationships/notesSlide" Target="/ppt/notesSlides/notesSlide9.xml" Id="R138c21160ad243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10aad902e64007" /><Relationship Type="http://schemas.openxmlformats.org/officeDocument/2006/relationships/image" Target="/ppt/media/image4.png" Id="R6a77c2613004447d" /><Relationship Type="http://schemas.openxmlformats.org/officeDocument/2006/relationships/notesSlide" Target="/ppt/notesSlides/notesSlide10.xml" Id="R5b0984e1cd3547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8ee32d6b9e4786" /><Relationship Type="http://schemas.openxmlformats.org/officeDocument/2006/relationships/hyperlink" Target="http://localhost:4000/" TargetMode="External" Id="R879512a3b9354d0e" /><Relationship Type="http://schemas.openxmlformats.org/officeDocument/2006/relationships/notesSlide" Target="/ppt/notesSlides/notesSlide11.xml" Id="R0e0fe57de8cb4e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8fe1df85924b3f" /><Relationship Type="http://schemas.openxmlformats.org/officeDocument/2006/relationships/notesSlide" Target="/ppt/notesSlides/notesSlide12.xml" Id="Rb54131aa869941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841f257045949c6" /><Relationship Type="http://schemas.openxmlformats.org/officeDocument/2006/relationships/notesSlide" Target="/ppt/notesSlides/notesSlide13.xml" Id="Rceb6d6e4745346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1ff8a5b88174141" /><Relationship Type="http://schemas.openxmlformats.org/officeDocument/2006/relationships/notesSlide" Target="/ppt/notesSlides/notesSlide14.xml" Id="Rc76814aa104e4a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866c7be0286448f" /><Relationship Type="http://schemas.openxmlformats.org/officeDocument/2006/relationships/notesSlide" Target="/ppt/notesSlides/notesSlide15.xml" Id="R05a74e66a9c142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2f09ff4f3284324" /><Relationship Type="http://schemas.openxmlformats.org/officeDocument/2006/relationships/notesSlide" Target="/ppt/notesSlides/notesSlide16.xml" Id="R4fcd81987f7c4b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E5CDA19-9691-405F-A5FF-ECC0A0B341B5}"/>
              </a:ext>
            </a:extLst>
          </p:cNvPr>
          <p:cNvPicPr>
            <a:picLocks xmlns:a="http://schemas.openxmlformats.org/drawingml/2006/main" noChangeAspect="1"/>
          </p:cNvPicPr>
          <p:nvPr/>
        </p:nvPicPr>
        <p:blipFill>
          <a:blip xmlns:r="http://schemas.openxmlformats.org/officeDocument/2006/relationships" xmlns:a="http://schemas.openxmlformats.org/drawingml/2006/main" r:embed="R2c64289fde254db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deck-title">
            <a:extLst xmlns:a="http://schemas.openxmlformats.org/drawingml/2006/main">
              <a:ext uri="{FF2B5EF4-FFF2-40B4-BE49-F238E27FC236}">
                <a16:creationId xmlns:a16="http://schemas.microsoft.com/office/drawing/2014/main" id="{C5395AE5-EF40-4581-9580-A480F725C50A}"/>
              </a:ext>
            </a:extLst>
          </p:cNvPr>
          <p:cNvSpPr>
            <a:spLocks xmlns:a="http://schemas.openxmlformats.org/drawingml/2006/main" noGrp="1"/>
          </p:cNvSpPr>
          <p:nvPr/>
        </p:nvSpPr>
        <p:spPr>
          <a:xfrm xmlns:a="http://schemas.openxmlformats.org/drawingml/2006/main">
            <a:off x="819150" y="2152650"/>
            <a:ext cx="904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0869B1"/>
                </a:solidFill>
                <a:latin typeface="Arial"/>
                <a:ea typeface="Arial"/>
                <a:cs typeface="Arial"/>
              </a:defRPr>
            </a:defPPr>
          </a:lstStyle>
          <a:p xmlns:a="http://schemas.openxmlformats.org/drawingml/2006/main">
            <a:pPr>
              <a:defRPr sz="4950" b="1">
                <a:solidFill>
                  <a:srgbClr val="0869B1"/>
                </a:solidFill>
                <a:latin typeface="Arial"/>
                <a:ea typeface="Arial"/>
                <a:cs typeface="Arial"/>
              </a:defRPr>
            </a:pPr>
            <a:r>
              <a:rPr sz="4950" b="1">
                <a:solidFill>
                  <a:srgbClr val="0869B1"/>
                </a:solidFill>
                <a:latin typeface="Arial"/>
                <a:ea typeface="Arial"/>
                <a:cs typeface="Arial"/>
              </a:rPr>
              <a:t>API COMPOSITION</a:t>
            </a:r>
          </a:p>
        </p:txBody>
      </p:sp>
      <p:sp>
        <p:nvSpPr>
          <p:cNvPr id="3" name="Baseline REST, BFF và GraphQL">
            <a:extLst xmlns:a="http://schemas.openxmlformats.org/drawingml/2006/main">
              <a:ext uri="{FF2B5EF4-FFF2-40B4-BE49-F238E27FC236}">
                <a16:creationId xmlns:a16="http://schemas.microsoft.com/office/drawing/2014/main" id="{A13E460A-014B-41B4-A7BF-775BCC0AA16C}"/>
              </a:ext>
            </a:extLst>
          </p:cNvPr>
          <p:cNvSpPr>
            <a:spLocks xmlns:a="http://schemas.openxmlformats.org/drawingml/2006/main" noGrp="1"/>
          </p:cNvSpPr>
          <p:nvPr/>
        </p:nvSpPr>
        <p:spPr>
          <a:xfrm xmlns:a="http://schemas.openxmlformats.org/drawingml/2006/main">
            <a:off x="847725" y="32099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123D61"/>
                </a:solidFill>
                <a:latin typeface="Arial"/>
                <a:ea typeface="Arial"/>
                <a:cs typeface="Arial"/>
              </a:defRPr>
            </a:defPPr>
          </a:lstStyle>
          <a:p xmlns:a="http://schemas.openxmlformats.org/drawingml/2006/main">
            <a:pPr>
              <a:defRPr sz="2775" b="0">
                <a:solidFill>
                  <a:srgbClr val="123D61"/>
                </a:solidFill>
                <a:latin typeface="Arial"/>
                <a:ea typeface="Arial"/>
                <a:cs typeface="Arial"/>
              </a:defRPr>
            </a:pPr>
            <a:r>
              <a:rPr sz="2775" b="0">
                <a:solidFill>
                  <a:srgbClr val="123D61"/>
                </a:solidFill>
                <a:latin typeface="Arial"/>
                <a:ea typeface="Arial"/>
                <a:cs typeface="Arial"/>
              </a:rPr>
              <a:t>Baseline REST, BFF và GraphQL</a:t>
            </a:r>
          </a:p>
        </p:txBody>
      </p:sp>
      <p:sp>
        <p:nvSpPr>
          <p:cNvPr id="4" name="Web nâng cao&#10;Tuần 2, Block 2">
            <a:extLst xmlns:a="http://schemas.openxmlformats.org/drawingml/2006/main">
              <a:ext uri="{FF2B5EF4-FFF2-40B4-BE49-F238E27FC236}">
                <a16:creationId xmlns:a16="http://schemas.microsoft.com/office/drawing/2014/main" id="{B85AC08F-4EE2-40E4-9717-A584898C8842}"/>
              </a:ext>
            </a:extLst>
          </p:cNvPr>
          <p:cNvSpPr>
            <a:spLocks xmlns:a="http://schemas.openxmlformats.org/drawingml/2006/main" noGrp="1"/>
          </p:cNvSpPr>
          <p:nvPr/>
        </p:nvSpPr>
        <p:spPr>
          <a:xfrm xmlns:a="http://schemas.openxmlformats.org/drawingml/2006/main">
            <a:off x="857250" y="4552950"/>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16979"/>
                </a:solidFill>
                <a:latin typeface="Arial"/>
                <a:ea typeface="Arial"/>
                <a:cs typeface="Arial"/>
              </a:defRPr>
            </a:defPPr>
          </a:lstStyle>
          <a:p xmlns:a="http://schemas.openxmlformats.org/drawingml/2006/main">
            <a:pPr>
              <a:defRPr sz="2100" b="0">
                <a:solidFill>
                  <a:srgbClr val="516979"/>
                </a:solidFill>
                <a:latin typeface="Arial"/>
                <a:ea typeface="Arial"/>
                <a:cs typeface="Arial"/>
              </a:defRPr>
            </a:pPr>
            <a:r>
              <a:rPr sz="2100" b="0">
                <a:solidFill>
                  <a:srgbClr val="516979"/>
                </a:solidFill>
                <a:latin typeface="Arial"/>
                <a:ea typeface="Arial"/>
                <a:cs typeface="Arial"/>
              </a:rPr>
              <a:t>Web nâng cao</a:t>
            </a:r>
          </a:p>
          <a:p xmlns:a="http://schemas.openxmlformats.org/drawingml/2006/main">
            <a:pPr>
              <a:defRPr sz="2100" b="0">
                <a:solidFill>
                  <a:srgbClr val="516979"/>
                </a:solidFill>
                <a:latin typeface="Arial"/>
                <a:ea typeface="Arial"/>
                <a:cs typeface="Arial"/>
              </a:defRPr>
            </a:pPr>
            <a:r>
              <a:rPr sz="2100" b="0">
                <a:solidFill>
                  <a:srgbClr val="516979"/>
                </a:solidFill>
                <a:latin typeface="Arial"/>
                <a:ea typeface="Arial"/>
                <a:cs typeface="Arial"/>
              </a:rPr>
              <a:t>Tuần 2, Block 2</a:t>
            </a:r>
          </a:p>
        </p:txBody>
      </p:sp>
    </p:spTree>
    <p:extLst>
      <p:ext uri="{BB962C8B-B14F-4D97-AF65-F5344CB8AC3E}">
        <p14:creationId xmlns:p14="http://schemas.microsoft.com/office/powerpoint/2010/main" val="7650754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8CA32C16-6835-42B4-8C10-D97927AD9ED6}"/>
              </a:ext>
            </a:extLst>
          </p:cNvPr>
          <p:cNvCxnSpPr>
            <a:stCxn xmlns:a="http://schemas.openxmlformats.org/drawingml/2006/main" id="7" idx="2"/>
            <a:endCxn xmlns:a="http://schemas.openxmlformats.org/drawingml/2006/main" id="8" idx="3"/>
          </p:cNvCxnSpPr>
          <p:nvPr/>
        </p:nvCxnSpPr>
        <p:spPr>
          <a:xfrm xmlns:a="http://schemas.openxmlformats.org/drawingml/2006/main" flipH="1">
            <a:off x="7581900" y="3543300"/>
            <a:ext cx="2438400" cy="1924050"/>
          </a:xfrm>
          <a:prstGeom xmlns:a="http://schemas.openxmlformats.org/drawingml/2006/main" prst="bentConnector5">
            <a:avLst>
              <a:gd name="adj1" fmla="val 0"/>
              <a:gd name="adj2" fmla="val 11881"/>
              <a:gd name="adj3" fmla="val 90625"/>
            </a:avLst>
          </a:prstGeom>
          <a:ln xmlns:a="http://schemas.openxmlformats.org/drawingml/2006/main" w="19050">
            <a:solidFill>
              <a:srgbClr val="0869B1"/>
            </a:solidFill>
            <a:tailEnd type="arrow" w="med" len="med"/>
          </a:ln>
        </p:spPr>
      </p:cxnSp>
      <p:cxnSp>
        <p:nvCxnSpPr>
          <p:cNvPr id="10" name="">
            <a:extLst xmlns:a="http://schemas.openxmlformats.org/drawingml/2006/main">
              <a:ext uri="{FF2B5EF4-FFF2-40B4-BE49-F238E27FC236}">
                <a16:creationId xmlns:a16="http://schemas.microsoft.com/office/drawing/2014/main" id="{CC9DFFF1-C6CC-43CD-83C9-F7DC38C8186A}"/>
              </a:ext>
            </a:extLst>
          </p:cNvPr>
          <p:cNvCxnSpPr>
            <a:stCxn xmlns:a="http://schemas.openxmlformats.org/drawingml/2006/main" id="6" idx="2"/>
            <a:endCxn xmlns:a="http://schemas.openxmlformats.org/drawingml/2006/main" id="8" idx="0"/>
          </p:cNvCxnSpPr>
          <p:nvPr/>
        </p:nvCxnSpPr>
        <p:spPr>
          <a:xfrm xmlns:a="http://schemas.openxmlformats.org/drawingml/2006/main">
            <a:off x="6105525" y="3543300"/>
            <a:ext cx="0" cy="1552575"/>
          </a:xfrm>
          <a:prstGeom xmlns:a="http://schemas.openxmlformats.org/drawingml/2006/main" prst="straightConnector1">
            <a:avLst/>
          </a:prstGeom>
          <a:ln xmlns:a="http://schemas.openxmlformats.org/drawingml/2006/main" w="19050">
            <a:solidFill>
              <a:srgbClr val="0869B1"/>
            </a:solidFill>
            <a:tailEnd type="arrow" w="med" len="med"/>
          </a:ln>
        </p:spPr>
      </p:cxnSp>
      <p:cxnSp>
        <p:nvCxnSpPr>
          <p:cNvPr id="9" name="">
            <a:extLst xmlns:a="http://schemas.openxmlformats.org/drawingml/2006/main">
              <a:ext uri="{FF2B5EF4-FFF2-40B4-BE49-F238E27FC236}">
                <a16:creationId xmlns:a16="http://schemas.microsoft.com/office/drawing/2014/main" id="{9712F868-A174-49A3-A76C-2C5FBA1BF60A}"/>
              </a:ext>
            </a:extLst>
          </p:cNvPr>
          <p:cNvCxnSpPr>
            <a:stCxn xmlns:a="http://schemas.openxmlformats.org/drawingml/2006/main" id="5" idx="2"/>
            <a:endCxn xmlns:a="http://schemas.openxmlformats.org/drawingml/2006/main" id="8" idx="1"/>
          </p:cNvCxnSpPr>
          <p:nvPr/>
        </p:nvCxnSpPr>
        <p:spPr>
          <a:xfrm xmlns:a="http://schemas.openxmlformats.org/drawingml/2006/main">
            <a:off x="2190750" y="3543300"/>
            <a:ext cx="2438400" cy="1924050"/>
          </a:xfrm>
          <a:prstGeom xmlns:a="http://schemas.openxmlformats.org/drawingml/2006/main" prst="bentConnector5">
            <a:avLst>
              <a:gd name="adj1" fmla="val 0"/>
              <a:gd name="adj2" fmla="val 11881"/>
              <a:gd name="adj3" fmla="val 90625"/>
            </a:avLst>
          </a:prstGeom>
          <a:ln xmlns:a="http://schemas.openxmlformats.org/drawingml/2006/main" w="19050">
            <a:solidFill>
              <a:srgbClr val="0869B1"/>
            </a:solidFill>
            <a:tailEnd type="arrow" w="med" len="med"/>
          </a:ln>
        </p:spPr>
      </p:cxnSp>
      <p:sp>
        <p:nvSpPr>
          <p:cNvPr id="12" name="slide-title">
            <a:extLst xmlns:a="http://schemas.openxmlformats.org/drawingml/2006/main">
              <a:ext uri="{FF2B5EF4-FFF2-40B4-BE49-F238E27FC236}">
                <a16:creationId xmlns:a16="http://schemas.microsoft.com/office/drawing/2014/main" id="{BBC10BCB-A4C4-4BA0-88EE-4BD213C87583}"/>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Dashboard cần dữ liệu từ ba service</a:t>
            </a:r>
          </a:p>
        </p:txBody>
      </p:sp>
      <p:sp>
        <p:nvSpPr>
          <p:cNvPr id="2" name="02">
            <a:extLst xmlns:a="http://schemas.openxmlformats.org/drawingml/2006/main">
              <a:ext uri="{FF2B5EF4-FFF2-40B4-BE49-F238E27FC236}">
                <a16:creationId xmlns:a16="http://schemas.microsoft.com/office/drawing/2014/main" id="{304CF2D5-5F85-469D-98DE-75C02DFF832F}"/>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02</a:t>
            </a:r>
          </a:p>
        </p:txBody>
      </p:sp>
      <p:sp>
        <p:nvSpPr>
          <p:cNvPr id="3" name="Problem">
            <a:extLst xmlns:a="http://schemas.openxmlformats.org/drawingml/2006/main">
              <a:ext uri="{FF2B5EF4-FFF2-40B4-BE49-F238E27FC236}">
                <a16:creationId xmlns:a16="http://schemas.microsoft.com/office/drawing/2014/main" id="{EF4B6AEC-37D2-44A2-BEE0-836E3DE8ED4C}"/>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Problem</a:t>
            </a:r>
          </a:p>
        </p:txBody>
      </p:sp>
      <p:sp>
        <p:nvSpPr>
          <p:cNvPr id="4" name="Tên người dùng và danh sách đơn, mỗi đơn">
            <a:extLst xmlns:a="http://schemas.openxmlformats.org/drawingml/2006/main">
              <a:ext uri="{FF2B5EF4-FFF2-40B4-BE49-F238E27FC236}">
                <a16:creationId xmlns:a16="http://schemas.microsoft.com/office/drawing/2014/main" id="{793FD770-5225-4D4F-B0D9-C180D3D2A82B}"/>
              </a:ext>
            </a:extLst>
          </p:cNvPr>
          <p:cNvSpPr>
            <a:spLocks xmlns:a="http://schemas.openxmlformats.org/drawingml/2006/main" noGrp="1"/>
          </p:cNvSpPr>
          <p:nvPr/>
        </p:nvSpPr>
        <p:spPr>
          <a:xfrm xmlns:a="http://schemas.openxmlformats.org/drawingml/2006/main">
            <a:off x="647700" y="14573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Tên người dùng và danh sách đơn, mỗi đơn kèm tên product</a:t>
            </a:r>
          </a:p>
        </p:txBody>
      </p:sp>
      <p:sp>
        <p:nvSpPr>
          <p:cNvPr id="5" name="User Service&#10;users.json">
            <a:extLst xmlns:a="http://schemas.openxmlformats.org/drawingml/2006/main">
              <a:ext uri="{FF2B5EF4-FFF2-40B4-BE49-F238E27FC236}">
                <a16:creationId xmlns:a16="http://schemas.microsoft.com/office/drawing/2014/main" id="{D26FD949-49BD-4897-B4E2-3CBC0CB3E14A}"/>
              </a:ext>
            </a:extLst>
          </p:cNvPr>
          <p:cNvSpPr>
            <a:spLocks xmlns:a="http://schemas.openxmlformats.org/drawingml/2006/main" noGrp="1"/>
          </p:cNvSpPr>
          <p:nvPr/>
        </p:nvSpPr>
        <p:spPr>
          <a:xfrm xmlns:a="http://schemas.openxmlformats.org/drawingml/2006/main">
            <a:off x="714375" y="2476500"/>
            <a:ext cx="2952750" cy="1066800"/>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User Service</a:t>
            </a:r>
          </a:p>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users.json</a:t>
            </a:r>
          </a:p>
        </p:txBody>
      </p:sp>
      <p:sp>
        <p:nvSpPr>
          <p:cNvPr id="6" name="Order Service&#10;orders.json">
            <a:extLst xmlns:a="http://schemas.openxmlformats.org/drawingml/2006/main">
              <a:ext uri="{FF2B5EF4-FFF2-40B4-BE49-F238E27FC236}">
                <a16:creationId xmlns:a16="http://schemas.microsoft.com/office/drawing/2014/main" id="{74090993-14B0-4DB7-AAE8-AA25428591DB}"/>
              </a:ext>
            </a:extLst>
          </p:cNvPr>
          <p:cNvSpPr>
            <a:spLocks xmlns:a="http://schemas.openxmlformats.org/drawingml/2006/main" noGrp="1"/>
          </p:cNvSpPr>
          <p:nvPr/>
        </p:nvSpPr>
        <p:spPr>
          <a:xfrm xmlns:a="http://schemas.openxmlformats.org/drawingml/2006/main">
            <a:off x="4629150" y="2476500"/>
            <a:ext cx="2952750" cy="1066800"/>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Order Service</a:t>
            </a:r>
          </a:p>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orders.json</a:t>
            </a:r>
          </a:p>
        </p:txBody>
      </p:sp>
      <p:sp>
        <p:nvSpPr>
          <p:cNvPr id="7" name="Product Service&#10;products.json">
            <a:extLst xmlns:a="http://schemas.openxmlformats.org/drawingml/2006/main">
              <a:ext uri="{FF2B5EF4-FFF2-40B4-BE49-F238E27FC236}">
                <a16:creationId xmlns:a16="http://schemas.microsoft.com/office/drawing/2014/main" id="{B0E7A247-6B9E-415C-A2D0-4B446EE067C8}"/>
              </a:ext>
            </a:extLst>
          </p:cNvPr>
          <p:cNvSpPr>
            <a:spLocks xmlns:a="http://schemas.openxmlformats.org/drawingml/2006/main" noGrp="1"/>
          </p:cNvSpPr>
          <p:nvPr/>
        </p:nvSpPr>
        <p:spPr>
          <a:xfrm xmlns:a="http://schemas.openxmlformats.org/drawingml/2006/main">
            <a:off x="8543925" y="2476500"/>
            <a:ext cx="2952750" cy="1066800"/>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Product Service</a:t>
            </a:r>
          </a:p>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products.json</a:t>
            </a:r>
          </a:p>
        </p:txBody>
      </p:sp>
      <p:sp>
        <p:nvSpPr>
          <p:cNvPr id="8" name="Dashboard">
            <a:extLst xmlns:a="http://schemas.openxmlformats.org/drawingml/2006/main">
              <a:ext uri="{FF2B5EF4-FFF2-40B4-BE49-F238E27FC236}">
                <a16:creationId xmlns:a16="http://schemas.microsoft.com/office/drawing/2014/main" id="{EAF0AEFF-7EB4-4F6A-9B77-9F81040C8D83}"/>
              </a:ext>
            </a:extLst>
          </p:cNvPr>
          <p:cNvSpPr>
            <a:spLocks xmlns:a="http://schemas.openxmlformats.org/drawingml/2006/main" noGrp="1"/>
          </p:cNvSpPr>
          <p:nvPr/>
        </p:nvSpPr>
        <p:spPr>
          <a:xfrm xmlns:a="http://schemas.openxmlformats.org/drawingml/2006/main">
            <a:off x="4629150" y="50958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Dashboard</a:t>
            </a:r>
          </a:p>
        </p:txBody>
      </p:sp>
    </p:spTree>
    <p:extLst>
      <p:ext uri="{BB962C8B-B14F-4D97-AF65-F5344CB8AC3E}">
        <p14:creationId xmlns:p14="http://schemas.microsoft.com/office/powerpoint/2010/main" val="19869881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D63E567-1CB5-4FBA-B4DD-192AF7524084}"/>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Dữ liệu JSON và phạm vi thực hành</a:t>
            </a:r>
          </a:p>
        </p:txBody>
      </p:sp>
      <p:sp>
        <p:nvSpPr>
          <p:cNvPr id="2" name="03">
            <a:extLst xmlns:a="http://schemas.openxmlformats.org/drawingml/2006/main">
              <a:ext uri="{FF2B5EF4-FFF2-40B4-BE49-F238E27FC236}">
                <a16:creationId xmlns:a16="http://schemas.microsoft.com/office/drawing/2014/main" id="{D333127B-74B2-4EE6-9D95-8A98FDE93DB7}"/>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03</a:t>
            </a:r>
          </a:p>
        </p:txBody>
      </p:sp>
      <p:sp>
        <p:nvSpPr>
          <p:cNvPr id="3" name="Solution">
            <a:extLst xmlns:a="http://schemas.openxmlformats.org/drawingml/2006/main">
              <a:ext uri="{FF2B5EF4-FFF2-40B4-BE49-F238E27FC236}">
                <a16:creationId xmlns:a16="http://schemas.microsoft.com/office/drawing/2014/main" id="{C047E332-90E0-4B42-B211-8A9C4747EA53}"/>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Solution</a:t>
            </a:r>
          </a:p>
        </p:txBody>
      </p:sp>
      <p:graphicFrame>
        <p:nvGraphicFramePr>
          <p:cNvPr id="4" name="">
            <a:extLst xmlns:a="http://schemas.openxmlformats.org/drawingml/2006/main">
              <a:ext uri="{FF2B5EF4-FFF2-40B4-BE49-F238E27FC236}">
                <a16:creationId xmlns:a16="http://schemas.microsoft.com/office/drawing/2014/main" id="{C590C6E1-DDA5-42B3-8751-2AEBA8351BD0}"/>
              </a:ext>
            </a:extLst>
          </p:cNvPr>
          <p:cNvGraphicFramePr/>
          <p:nvPr/>
        </p:nvGraphicFramePr>
        <p:xfrm>
          <a:off xmlns:a="http://schemas.openxmlformats.org/drawingml/2006/main" x="647700" y="1819275"/>
          <a:ext xmlns:a="http://schemas.openxmlformats.org/drawingml/2006/main" cx="6000750" cy="2000250"/>
        </p:xfrm>
        <a:graphic xmlns:a="http://schemas.openxmlformats.org/drawingml/2006/main">
          <a:graphicData uri="http://schemas.openxmlformats.org/drawingml/2006/table">
            <a:tbl>
              <a:tblPr/>
              <a:tblGrid>
                <a:gridCol w="2571750"/>
                <a:gridCol w="1714500"/>
                <a:gridCol w="1714500"/>
              </a:tblGrid>
              <a:tr h="666750">
                <a:tc>
                  <a:txBody>
                    <a:bodyPr/>
                    <a:lstStyle/>
                    <a:p>
                      <a:r>
                        <a:rPr sz="2175" b="1">
                          <a:solidFill>
                            <a:srgbClr val="FFFFFF"/>
                          </a:solidFill>
                          <a:latin typeface="Arial"/>
                          <a:ea typeface="Arial"/>
                          <a:cs typeface="Arial"/>
                        </a:rPr>
                        <a:t>Dataset</a:t>
                      </a:r>
                    </a:p>
                  </a:txBody>
                  <a:tcPr marL="114300" marR="114300" marT="95250" marB="76200" anchor="ctr">
                    <a:solidFill>
                      <a:srgbClr val="0869B1"/>
                    </a:solidFill>
                  </a:tcPr>
                </a:tc>
                <a:tc>
                  <a:txBody>
                    <a:bodyPr/>
                    <a:lstStyle/>
                    <a:p>
                      <a:r>
                        <a:rPr sz="2175" b="1">
                          <a:solidFill>
                            <a:srgbClr val="FFFFFF"/>
                          </a:solidFill>
                          <a:latin typeface="Arial"/>
                          <a:ea typeface="Arial"/>
                          <a:cs typeface="Arial"/>
                        </a:rPr>
                        <a:t>Đơn của u1</a:t>
                      </a:r>
                    </a:p>
                  </a:txBody>
                  <a:tcPr marL="114300" marR="114300" marT="95250" marB="76200" anchor="ctr">
                    <a:solidFill>
                      <a:srgbClr val="0869B1"/>
                    </a:solidFill>
                  </a:tcPr>
                </a:tc>
                <a:tc>
                  <a:txBody>
                    <a:bodyPr/>
                    <a:lstStyle/>
                    <a:p>
                      <a:r>
                        <a:rPr sz="2175" b="1">
                          <a:solidFill>
                            <a:srgbClr val="FFFFFF"/>
                          </a:solidFill>
                          <a:latin typeface="Arial"/>
                          <a:ea typeface="Arial"/>
                          <a:cs typeface="Arial"/>
                        </a:rPr>
                        <a:t>Product</a:t>
                      </a:r>
                    </a:p>
                  </a:txBody>
                  <a:tcPr marL="114300" marR="114300" marT="95250" marB="76200" anchor="ctr">
                    <a:solidFill>
                      <a:srgbClr val="0869B1"/>
                    </a:solidFill>
                  </a:tcPr>
                </a:tc>
              </a:tr>
              <a:tr h="666750">
                <a:tc>
                  <a:txBody>
                    <a:bodyPr/>
                    <a:lstStyle/>
                    <a:p>
                      <a:r>
                        <a:rPr sz="2175">
                          <a:solidFill>
                            <a:srgbClr val="183448"/>
                          </a:solidFill>
                          <a:latin typeface="Arial"/>
                          <a:ea typeface="Arial"/>
                          <a:cs typeface="Arial"/>
                        </a:rPr>
                        <a:t>Small</a:t>
                      </a:r>
                    </a:p>
                  </a:txBody>
                  <a:tcPr marL="114300" marR="114300" marT="95250" marB="76200" anchor="ctr">
                    <a:solidFill>
                      <a:srgbClr val="EDF6FC"/>
                    </a:solidFill>
                  </a:tcPr>
                </a:tc>
                <a:tc>
                  <a:txBody>
                    <a:bodyPr/>
                    <a:lstStyle/>
                    <a:p>
                      <a:r>
                        <a:rPr sz="2175">
                          <a:solidFill>
                            <a:srgbClr val="183448"/>
                          </a:solidFill>
                          <a:latin typeface="Arial"/>
                          <a:ea typeface="Arial"/>
                          <a:cs typeface="Arial"/>
                        </a:rPr>
                        <a:t>5</a:t>
                      </a:r>
                    </a:p>
                  </a:txBody>
                  <a:tcPr marL="114300" marR="114300" marT="95250" marB="76200" anchor="ctr">
                    <a:solidFill>
                      <a:srgbClr val="EDF6FC"/>
                    </a:solidFill>
                  </a:tcPr>
                </a:tc>
                <a:tc>
                  <a:txBody>
                    <a:bodyPr/>
                    <a:lstStyle/>
                    <a:p>
                      <a:r>
                        <a:rPr sz="2175">
                          <a:solidFill>
                            <a:srgbClr val="183448"/>
                          </a:solidFill>
                          <a:latin typeface="Arial"/>
                          <a:ea typeface="Arial"/>
                          <a:cs typeface="Arial"/>
                        </a:rPr>
                        <a:t>3</a:t>
                      </a:r>
                    </a:p>
                  </a:txBody>
                  <a:tcPr marL="114300" marR="114300" marT="95250" marB="76200" anchor="ctr">
                    <a:solidFill>
                      <a:srgbClr val="EDF6FC"/>
                    </a:solidFill>
                  </a:tcPr>
                </a:tc>
              </a:tr>
              <a:tr h="666750">
                <a:tc>
                  <a:txBody>
                    <a:bodyPr/>
                    <a:lstStyle/>
                    <a:p>
                      <a:r>
                        <a:rPr sz="2175">
                          <a:solidFill>
                            <a:srgbClr val="183448"/>
                          </a:solidFill>
                          <a:latin typeface="Arial"/>
                          <a:ea typeface="Arial"/>
                          <a:cs typeface="Arial"/>
                        </a:rPr>
                        <a:t>Large</a:t>
                      </a:r>
                    </a:p>
                  </a:txBody>
                  <a:tcPr marL="114300" marR="114300" marT="95250" marB="76200" anchor="ctr">
                    <a:solidFill>
                      <a:srgbClr val="FFFFFF"/>
                    </a:solidFill>
                  </a:tcPr>
                </a:tc>
                <a:tc>
                  <a:txBody>
                    <a:bodyPr/>
                    <a:lstStyle/>
                    <a:p>
                      <a:r>
                        <a:rPr sz="2175">
                          <a:solidFill>
                            <a:srgbClr val="183448"/>
                          </a:solidFill>
                          <a:latin typeface="Arial"/>
                          <a:ea typeface="Arial"/>
                          <a:cs typeface="Arial"/>
                        </a:rPr>
                        <a:t>200</a:t>
                      </a:r>
                    </a:p>
                  </a:txBody>
                  <a:tcPr marL="114300" marR="114300" marT="95250" marB="76200" anchor="ctr">
                    <a:solidFill>
                      <a:srgbClr val="FFFFFF"/>
                    </a:solidFill>
                  </a:tcPr>
                </a:tc>
                <a:tc>
                  <a:txBody>
                    <a:bodyPr/>
                    <a:lstStyle/>
                    <a:p>
                      <a:r>
                        <a:rPr sz="2175">
                          <a:solidFill>
                            <a:srgbClr val="183448"/>
                          </a:solidFill>
                          <a:latin typeface="Arial"/>
                          <a:ea typeface="Arial"/>
                          <a:cs typeface="Arial"/>
                        </a:rPr>
                        <a:t>20</a:t>
                      </a:r>
                    </a:p>
                  </a:txBody>
                  <a:tcPr marL="114300" marR="114300" marT="95250" marB="76200" anchor="ctr">
                    <a:solidFill>
                      <a:srgbClr val="FFFFFF"/>
                    </a:solidFill>
                  </a:tcPr>
                </a:tc>
              </a:tr>
            </a:tbl>
          </a:graphicData>
        </a:graphic>
      </p:graphicFrame>
      <p:sp>
        <p:nvSpPr>
          <p:cNvPr id="5" name="Product lặp giữa các đơn&#10;Seed 42 tái tạo">
            <a:extLst xmlns:a="http://schemas.openxmlformats.org/drawingml/2006/main">
              <a:ext uri="{FF2B5EF4-FFF2-40B4-BE49-F238E27FC236}">
                <a16:creationId xmlns:a16="http://schemas.microsoft.com/office/drawing/2014/main" id="{9F9DFE21-7D89-48B0-9132-20879554E372}"/>
              </a:ext>
            </a:extLst>
          </p:cNvPr>
          <p:cNvSpPr>
            <a:spLocks xmlns:a="http://schemas.openxmlformats.org/drawingml/2006/main" noGrp="1"/>
          </p:cNvSpPr>
          <p:nvPr/>
        </p:nvSpPr>
        <p:spPr>
          <a:xfrm xmlns:a="http://schemas.openxmlformats.org/drawingml/2006/main">
            <a:off x="7410450" y="1914525"/>
            <a:ext cx="4048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Product lặp giữa các đơn</a:t>
            </a:r>
          </a:p>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Seed 42 tái tạo dữ liệu</a:t>
            </a:r>
          </a:p>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u2 có thêm 3 đơn</a:t>
            </a:r>
          </a:p>
        </p:txBody>
      </p:sp>
      <p:sp>
        <p:nvSpPr>
          <p:cNvPr id="6" name="Một product cho mỗi đơn&#10;Order lưu produc">
            <a:extLst xmlns:a="http://schemas.openxmlformats.org/drawingml/2006/main">
              <a:ext uri="{FF2B5EF4-FFF2-40B4-BE49-F238E27FC236}">
                <a16:creationId xmlns:a16="http://schemas.microsoft.com/office/drawing/2014/main" id="{5237BB65-6E7A-498F-BFC6-740E4B80037B}"/>
              </a:ext>
            </a:extLst>
          </p:cNvPr>
          <p:cNvSpPr>
            <a:spLocks xmlns:a="http://schemas.openxmlformats.org/drawingml/2006/main" noGrp="1"/>
          </p:cNvSpPr>
          <p:nvPr/>
        </p:nvSpPr>
        <p:spPr>
          <a:xfrm xmlns:a="http://schemas.openxmlformats.org/drawingml/2006/main">
            <a:off x="647700" y="43243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23D61"/>
                </a:solidFill>
                <a:latin typeface="Arial"/>
                <a:ea typeface="Arial"/>
                <a:cs typeface="Arial"/>
              </a:defRPr>
            </a:defPPr>
          </a:lstStyle>
          <a:p xmlns:a="http://schemas.openxmlformats.org/drawingml/2006/main">
            <a:pPr>
              <a:defRPr sz="2400" b="1">
                <a:solidFill>
                  <a:srgbClr val="123D61"/>
                </a:solidFill>
                <a:latin typeface="Arial"/>
                <a:ea typeface="Arial"/>
                <a:cs typeface="Arial"/>
              </a:defRPr>
            </a:pPr>
            <a:r>
              <a:rPr sz="2400" b="1">
                <a:solidFill>
                  <a:srgbClr val="123D61"/>
                </a:solidFill>
                <a:latin typeface="Arial"/>
                <a:ea typeface="Arial"/>
                <a:cs typeface="Arial"/>
              </a:rPr>
              <a:t>Một product cho mỗi đơn</a:t>
            </a:r>
          </a:p>
          <a:p xmlns:a="http://schemas.openxmlformats.org/drawingml/2006/main">
            <a:pPr>
              <a:defRPr sz="2400" b="1">
                <a:solidFill>
                  <a:srgbClr val="123D61"/>
                </a:solidFill>
                <a:latin typeface="Arial"/>
                <a:ea typeface="Arial"/>
                <a:cs typeface="Arial"/>
              </a:defRPr>
            </a:pPr>
            <a:r>
              <a:rPr sz="2400" b="1">
                <a:solidFill>
                  <a:srgbClr val="123D61"/>
                </a:solidFill>
                <a:latin typeface="Arial"/>
                <a:ea typeface="Arial"/>
                <a:cs typeface="Arial"/>
              </a:rPr>
              <a:t>Order lưu productId và unitPrice</a:t>
            </a:r>
          </a:p>
        </p:txBody>
      </p:sp>
      <p:sp>
        <p:nvSpPr>
          <p:cNvPr id="7" name="Mỗi service nạp file riêng vào RAM khi k">
            <a:extLst xmlns:a="http://schemas.openxmlformats.org/drawingml/2006/main">
              <a:ext uri="{FF2B5EF4-FFF2-40B4-BE49-F238E27FC236}">
                <a16:creationId xmlns:a16="http://schemas.microsoft.com/office/drawing/2014/main" id="{FAF37373-B3DA-4D4E-AB09-44B2F3E935AC}"/>
              </a:ext>
            </a:extLst>
          </p:cNvPr>
          <p:cNvSpPr>
            <a:spLocks xmlns:a="http://schemas.openxmlformats.org/drawingml/2006/main" noGrp="1"/>
          </p:cNvSpPr>
          <p:nvPr/>
        </p:nvSpPr>
        <p:spPr>
          <a:xfrm xmlns:a="http://schemas.openxmlformats.org/drawingml/2006/main">
            <a:off x="647700" y="55149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979"/>
                </a:solidFill>
                <a:latin typeface="Arial"/>
                <a:ea typeface="Arial"/>
                <a:cs typeface="Arial"/>
              </a:defRPr>
            </a:defPPr>
          </a:lstStyle>
          <a:p xmlns:a="http://schemas.openxmlformats.org/drawingml/2006/main">
            <a:pPr>
              <a:defRPr sz="2025" b="0">
                <a:solidFill>
                  <a:srgbClr val="516979"/>
                </a:solidFill>
                <a:latin typeface="Arial"/>
                <a:ea typeface="Arial"/>
                <a:cs typeface="Arial"/>
              </a:defRPr>
            </a:pPr>
            <a:r>
              <a:rPr sz="2025" b="0">
                <a:solidFill>
                  <a:srgbClr val="516979"/>
                </a:solidFill>
                <a:latin typeface="Arial"/>
                <a:ea typeface="Arial"/>
                <a:cs typeface="Arial"/>
              </a:rPr>
              <a:t>Mỗi service nạp file riêng vào RAM khi khởi động</a:t>
            </a:r>
          </a:p>
        </p:txBody>
      </p:sp>
    </p:spTree>
    <p:extLst>
      <p:ext uri="{BB962C8B-B14F-4D97-AF65-F5344CB8AC3E}">
        <p14:creationId xmlns:p14="http://schemas.microsoft.com/office/powerpoint/2010/main" val="1824754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0E3BF5F-835F-497A-8F32-BD1051466A4C}"/>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Baseline ghép dữ liệu ở browser</a:t>
            </a:r>
          </a:p>
        </p:txBody>
      </p:sp>
      <p:sp>
        <p:nvSpPr>
          <p:cNvPr id="2" name="04">
            <a:extLst xmlns:a="http://schemas.openxmlformats.org/drawingml/2006/main">
              <a:ext uri="{FF2B5EF4-FFF2-40B4-BE49-F238E27FC236}">
                <a16:creationId xmlns:a16="http://schemas.microsoft.com/office/drawing/2014/main" id="{0EB55EB4-1E2A-4892-AEBF-7816685EDD4D}"/>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04</a:t>
            </a:r>
          </a:p>
        </p:txBody>
      </p:sp>
      <p:sp>
        <p:nvSpPr>
          <p:cNvPr id="3" name="Solution">
            <a:extLst xmlns:a="http://schemas.openxmlformats.org/drawingml/2006/main">
              <a:ext uri="{FF2B5EF4-FFF2-40B4-BE49-F238E27FC236}">
                <a16:creationId xmlns:a16="http://schemas.microsoft.com/office/drawing/2014/main" id="{8342CE43-170F-448B-B418-796AFB09EDDA}"/>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Solution</a:t>
            </a:r>
          </a:p>
        </p:txBody>
      </p:sp>
      <p:sp>
        <p:nvSpPr>
          <p:cNvPr id="4" name="2 + N">
            <a:extLst xmlns:a="http://schemas.openxmlformats.org/drawingml/2006/main">
              <a:ext uri="{FF2B5EF4-FFF2-40B4-BE49-F238E27FC236}">
                <a16:creationId xmlns:a16="http://schemas.microsoft.com/office/drawing/2014/main" id="{CABCB08E-E903-418B-808D-553FDBEFCB37}"/>
              </a:ext>
            </a:extLst>
          </p:cNvPr>
          <p:cNvSpPr>
            <a:spLocks xmlns:a="http://schemas.openxmlformats.org/drawingml/2006/main" noGrp="1"/>
          </p:cNvSpPr>
          <p:nvPr/>
        </p:nvSpPr>
        <p:spPr>
          <a:xfrm xmlns:a="http://schemas.openxmlformats.org/drawingml/2006/main">
            <a:off x="695325" y="168592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0869B1"/>
                </a:solidFill>
                <a:latin typeface="Arial"/>
                <a:ea typeface="Arial"/>
                <a:cs typeface="Arial"/>
              </a:defRPr>
            </a:defPPr>
          </a:lstStyle>
          <a:p xmlns:a="http://schemas.openxmlformats.org/drawingml/2006/main">
            <a:pPr>
              <a:defRPr sz="6150" b="1">
                <a:solidFill>
                  <a:srgbClr val="0869B1"/>
                </a:solidFill>
                <a:latin typeface="Arial"/>
                <a:ea typeface="Arial"/>
                <a:cs typeface="Arial"/>
              </a:defRPr>
            </a:pPr>
            <a:r>
              <a:rPr sz="6150" b="1">
                <a:solidFill>
                  <a:srgbClr val="0869B1"/>
                </a:solidFill>
                <a:latin typeface="Arial"/>
                <a:ea typeface="Arial"/>
                <a:cs typeface="Arial"/>
              </a:rPr>
              <a:t>2 + N</a:t>
            </a:r>
          </a:p>
        </p:txBody>
      </p:sp>
      <p:sp>
        <p:nvSpPr>
          <p:cNvPr id="5" name="request dữ liệu tuần tự">
            <a:extLst xmlns:a="http://schemas.openxmlformats.org/drawingml/2006/main">
              <a:ext uri="{FF2B5EF4-FFF2-40B4-BE49-F238E27FC236}">
                <a16:creationId xmlns:a16="http://schemas.microsoft.com/office/drawing/2014/main" id="{ACC3FDDE-8ACC-48E3-A4B7-1D715BA9F79A}"/>
              </a:ext>
            </a:extLst>
          </p:cNvPr>
          <p:cNvSpPr>
            <a:spLocks xmlns:a="http://schemas.openxmlformats.org/drawingml/2006/main" noGrp="1"/>
          </p:cNvSpPr>
          <p:nvPr/>
        </p:nvSpPr>
        <p:spPr>
          <a:xfrm xmlns:a="http://schemas.openxmlformats.org/drawingml/2006/main">
            <a:off x="733425" y="282892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request dữ liệu tuần tự</a:t>
            </a:r>
          </a:p>
        </p:txBody>
      </p:sp>
      <p:sp>
        <p:nvSpPr>
          <p:cNvPr id="6" name="5 đơn: 7 request&#10;200 đơn: 202 request">
            <a:extLst xmlns:a="http://schemas.openxmlformats.org/drawingml/2006/main">
              <a:ext uri="{FF2B5EF4-FFF2-40B4-BE49-F238E27FC236}">
                <a16:creationId xmlns:a16="http://schemas.microsoft.com/office/drawing/2014/main" id="{DF48B764-B1A5-41F1-B827-07E976E8B7EE}"/>
              </a:ext>
            </a:extLst>
          </p:cNvPr>
          <p:cNvSpPr>
            <a:spLocks xmlns:a="http://schemas.openxmlformats.org/drawingml/2006/main" noGrp="1"/>
          </p:cNvSpPr>
          <p:nvPr/>
        </p:nvSpPr>
        <p:spPr>
          <a:xfrm xmlns:a="http://schemas.openxmlformats.org/drawingml/2006/main">
            <a:off x="6686550" y="191452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23D61"/>
                </a:solidFill>
                <a:latin typeface="Arial"/>
                <a:ea typeface="Arial"/>
                <a:cs typeface="Arial"/>
              </a:defRPr>
            </a:defPPr>
          </a:lstStyle>
          <a:p xmlns:a="http://schemas.openxmlformats.org/drawingml/2006/main">
            <a:pPr>
              <a:defRPr sz="2625" b="1">
                <a:solidFill>
                  <a:srgbClr val="123D61"/>
                </a:solidFill>
                <a:latin typeface="Arial"/>
                <a:ea typeface="Arial"/>
                <a:cs typeface="Arial"/>
              </a:defRPr>
            </a:pPr>
            <a:r>
              <a:rPr sz="2625" b="1">
                <a:solidFill>
                  <a:srgbClr val="123D61"/>
                </a:solidFill>
                <a:latin typeface="Arial"/>
                <a:ea typeface="Arial"/>
                <a:cs typeface="Arial"/>
              </a:rPr>
              <a:t>5 đơn: 7 request</a:t>
            </a:r>
          </a:p>
          <a:p xmlns:a="http://schemas.openxmlformats.org/drawingml/2006/main">
            <a:pPr>
              <a:defRPr sz="2625" b="1">
                <a:solidFill>
                  <a:srgbClr val="123D61"/>
                </a:solidFill>
                <a:latin typeface="Arial"/>
                <a:ea typeface="Arial"/>
                <a:cs typeface="Arial"/>
              </a:defRPr>
            </a:pPr>
            <a:r>
              <a:rPr sz="2625" b="1">
                <a:solidFill>
                  <a:srgbClr val="123D61"/>
                </a:solidFill>
                <a:latin typeface="Arial"/>
                <a:ea typeface="Arial"/>
                <a:cs typeface="Arial"/>
              </a:rPr>
              <a:t>200 đơn: 202 request</a:t>
            </a:r>
          </a:p>
        </p:txBody>
      </p:sp>
      <p:pic>
        <p:nvPicPr>
          <p:cNvPr id="7" name="">
            <a:extLst xmlns:a="http://schemas.openxmlformats.org/drawingml/2006/main">
              <a:ext uri="{FF2B5EF4-FFF2-40B4-BE49-F238E27FC236}">
                <a16:creationId xmlns:a16="http://schemas.microsoft.com/office/drawing/2014/main" id="{265DD753-A127-4B3C-BCFE-0AA0444F939B}"/>
              </a:ext>
            </a:extLst>
          </p:cNvPr>
          <p:cNvPicPr>
            <a:picLocks xmlns:a="http://schemas.openxmlformats.org/drawingml/2006/main" noChangeAspect="1"/>
          </p:cNvPicPr>
          <p:nvPr/>
        </p:nvPicPr>
        <p:blipFill>
          <a:blip xmlns:r="http://schemas.openxmlformats.org/officeDocument/2006/relationships" xmlns:a="http://schemas.openxmlformats.org/drawingml/2006/main" r:embed="Ree6001ca824b4eba"/>
          <a:stretch xmlns:a="http://schemas.openxmlformats.org/drawingml/2006/main"/>
        </p:blipFill>
        <p:spPr>
          <a:xfrm xmlns:a="http://schemas.openxmlformats.org/drawingml/2006/main">
            <a:off x="647700" y="4000257"/>
            <a:ext cx="10839450" cy="1257785"/>
          </a:xfrm>
          <a:prstGeom xmlns:a="http://schemas.openxmlformats.org/drawingml/2006/main" prst="rect">
            <a:avLst/>
          </a:prstGeom>
        </p:spPr>
      </p:pic>
      <p:sp>
        <p:nvSpPr>
          <p:cNvPr id="8" name="User, orders rồi từng product. Product t">
            <a:extLst xmlns:a="http://schemas.openxmlformats.org/drawingml/2006/main">
              <a:ext uri="{FF2B5EF4-FFF2-40B4-BE49-F238E27FC236}">
                <a16:creationId xmlns:a16="http://schemas.microsoft.com/office/drawing/2014/main" id="{B078BDF6-095E-4F68-B8E7-1E7494E2728B}"/>
              </a:ext>
            </a:extLst>
          </p:cNvPr>
          <p:cNvSpPr>
            <a:spLocks xmlns:a="http://schemas.openxmlformats.org/drawingml/2006/main" noGrp="1"/>
          </p:cNvSpPr>
          <p:nvPr/>
        </p:nvSpPr>
        <p:spPr>
          <a:xfrm xmlns:a="http://schemas.openxmlformats.org/drawingml/2006/main">
            <a:off x="647700" y="57340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16979"/>
                </a:solidFill>
                <a:latin typeface="Arial"/>
                <a:ea typeface="Arial"/>
                <a:cs typeface="Arial"/>
              </a:defRPr>
            </a:defPPr>
          </a:lstStyle>
          <a:p xmlns:a="http://schemas.openxmlformats.org/drawingml/2006/main">
            <a:pPr>
              <a:defRPr sz="2100" b="0">
                <a:solidFill>
                  <a:srgbClr val="516979"/>
                </a:solidFill>
                <a:latin typeface="Arial"/>
                <a:ea typeface="Arial"/>
                <a:cs typeface="Arial"/>
              </a:defRPr>
            </a:pPr>
            <a:r>
              <a:rPr sz="2100" b="0">
                <a:solidFill>
                  <a:srgbClr val="516979"/>
                </a:solidFill>
                <a:latin typeface="Arial"/>
                <a:ea typeface="Arial"/>
                <a:cs typeface="Arial"/>
              </a:rPr>
              <a:t>User, orders rồi từng product. Product trùng vẫn gọi lại.</a:t>
            </a:r>
          </a:p>
        </p:txBody>
      </p:sp>
    </p:spTree>
    <p:extLst>
      <p:ext uri="{BB962C8B-B14F-4D97-AF65-F5344CB8AC3E}">
        <p14:creationId xmlns:p14="http://schemas.microsoft.com/office/powerpoint/2010/main" val="3362779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D54ADDE-C768-471A-AB30-3830DFAB05FE}"/>
              </a:ext>
            </a:extLst>
          </p:cNvPr>
          <p:cNvCxnSpPr>
            <a:stCxn xmlns:a="http://schemas.openxmlformats.org/drawingml/2006/main" id="5" idx="3"/>
            <a:endCxn xmlns:a="http://schemas.openxmlformats.org/drawingml/2006/main" id="8" idx="1"/>
          </p:cNvCxnSpPr>
          <p:nvPr/>
        </p:nvCxnSpPr>
        <p:spPr>
          <a:xfrm xmlns:a="http://schemas.openxmlformats.org/drawingml/2006/main">
            <a:off x="5838825" y="2747963"/>
            <a:ext cx="1371600" cy="2271713"/>
          </a:xfrm>
          <a:prstGeom xmlns:a="http://schemas.openxmlformats.org/drawingml/2006/main" prst="bentConnector3">
            <a:avLst>
              <a:gd name="adj1" fmla="val 50000"/>
            </a:avLst>
          </a:prstGeom>
          <a:ln xmlns:a="http://schemas.openxmlformats.org/drawingml/2006/main" w="19050">
            <a:solidFill>
              <a:srgbClr val="0869B1"/>
            </a:solidFill>
            <a:tailEnd type="arrow" w="med" len="med"/>
          </a:ln>
        </p:spPr>
      </p:cxnSp>
      <p:cxnSp>
        <p:nvCxnSpPr>
          <p:cNvPr id="11" name="">
            <a:extLst xmlns:a="http://schemas.openxmlformats.org/drawingml/2006/main">
              <a:ext uri="{FF2B5EF4-FFF2-40B4-BE49-F238E27FC236}">
                <a16:creationId xmlns:a16="http://schemas.microsoft.com/office/drawing/2014/main" id="{57602483-B255-465A-9C5C-D28FB4C72717}"/>
              </a:ext>
            </a:extLst>
          </p:cNvPr>
          <p:cNvCxnSpPr>
            <a:stCxn xmlns:a="http://schemas.openxmlformats.org/drawingml/2006/main" id="5" idx="3"/>
            <a:endCxn xmlns:a="http://schemas.openxmlformats.org/drawingml/2006/main" id="7" idx="1"/>
          </p:cNvCxnSpPr>
          <p:nvPr/>
        </p:nvCxnSpPr>
        <p:spPr>
          <a:xfrm xmlns:a="http://schemas.openxmlformats.org/drawingml/2006/main">
            <a:off x="5838825" y="2747963"/>
            <a:ext cx="1371600" cy="719138"/>
          </a:xfrm>
          <a:prstGeom xmlns:a="http://schemas.openxmlformats.org/drawingml/2006/main" prst="bentConnector3">
            <a:avLst>
              <a:gd name="adj1" fmla="val 50000"/>
            </a:avLst>
          </a:prstGeom>
          <a:ln xmlns:a="http://schemas.openxmlformats.org/drawingml/2006/main" w="19050">
            <a:solidFill>
              <a:srgbClr val="0869B1"/>
            </a:solidFill>
            <a:tailEnd type="arrow" w="med" len="med"/>
          </a:ln>
        </p:spPr>
      </p:cxnSp>
      <p:cxnSp>
        <p:nvCxnSpPr>
          <p:cNvPr id="10" name="">
            <a:extLst xmlns:a="http://schemas.openxmlformats.org/drawingml/2006/main">
              <a:ext uri="{FF2B5EF4-FFF2-40B4-BE49-F238E27FC236}">
                <a16:creationId xmlns:a16="http://schemas.microsoft.com/office/drawing/2014/main" id="{7B5BE435-0B38-417A-A6C5-73ED14F779A2}"/>
              </a:ext>
            </a:extLst>
          </p:cNvPr>
          <p:cNvCxnSpPr>
            <a:stCxn xmlns:a="http://schemas.openxmlformats.org/drawingml/2006/main" id="5" idx="3"/>
            <a:endCxn xmlns:a="http://schemas.openxmlformats.org/drawingml/2006/main" id="6" idx="1"/>
          </p:cNvCxnSpPr>
          <p:nvPr/>
        </p:nvCxnSpPr>
        <p:spPr>
          <a:xfrm xmlns:a="http://schemas.openxmlformats.org/drawingml/2006/main" flipV="1">
            <a:off x="5838825" y="2314575"/>
            <a:ext cx="1371600" cy="433388"/>
          </a:xfrm>
          <a:prstGeom xmlns:a="http://schemas.openxmlformats.org/drawingml/2006/main" prst="bentConnector3">
            <a:avLst>
              <a:gd name="adj1" fmla="val 50000"/>
            </a:avLst>
          </a:prstGeom>
          <a:ln xmlns:a="http://schemas.openxmlformats.org/drawingml/2006/main" w="19050">
            <a:solidFill>
              <a:srgbClr val="0869B1"/>
            </a:solidFill>
            <a:tailEnd type="arrow" w="med" len="med"/>
          </a:ln>
        </p:spPr>
      </p:cxnSp>
      <p:cxnSp>
        <p:nvCxnSpPr>
          <p:cNvPr id="9" name="">
            <a:extLst xmlns:a="http://schemas.openxmlformats.org/drawingml/2006/main">
              <a:ext uri="{FF2B5EF4-FFF2-40B4-BE49-F238E27FC236}">
                <a16:creationId xmlns:a16="http://schemas.microsoft.com/office/drawing/2014/main" id="{654EE53C-CEE1-4F07-A44B-2F169622D2A4}"/>
              </a:ext>
            </a:extLst>
          </p:cNvPr>
          <p:cNvCxnSpPr>
            <a:stCxn xmlns:a="http://schemas.openxmlformats.org/drawingml/2006/main" id="4" idx="3"/>
            <a:endCxn xmlns:a="http://schemas.openxmlformats.org/drawingml/2006/main" id="5" idx="1"/>
          </p:cNvCxnSpPr>
          <p:nvPr/>
        </p:nvCxnSpPr>
        <p:spPr>
          <a:xfrm xmlns:a="http://schemas.openxmlformats.org/drawingml/2006/main">
            <a:off x="2552700" y="2747963"/>
            <a:ext cx="857250" cy="0"/>
          </a:xfrm>
          <a:prstGeom xmlns:a="http://schemas.openxmlformats.org/drawingml/2006/main" prst="straightConnector1">
            <a:avLst/>
          </a:prstGeom>
          <a:ln xmlns:a="http://schemas.openxmlformats.org/drawingml/2006/main" w="19050">
            <a:solidFill>
              <a:srgbClr val="0869B1"/>
            </a:solidFill>
            <a:tailEnd type="arrow" w="med" len="med"/>
          </a:ln>
        </p:spPr>
      </p:cxnSp>
      <p:sp>
        <p:nvSpPr>
          <p:cNvPr id="17" name="slide-title">
            <a:extLst xmlns:a="http://schemas.openxmlformats.org/drawingml/2006/main">
              <a:ext uri="{FF2B5EF4-FFF2-40B4-BE49-F238E27FC236}">
                <a16:creationId xmlns:a16="http://schemas.microsoft.com/office/drawing/2014/main" id="{3EF9C998-27A5-4285-BBD0-502A0FF0099C}"/>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BFF trả một response cho dashboard</a:t>
            </a:r>
          </a:p>
        </p:txBody>
      </p:sp>
      <p:sp>
        <p:nvSpPr>
          <p:cNvPr id="2" name="05">
            <a:extLst xmlns:a="http://schemas.openxmlformats.org/drawingml/2006/main">
              <a:ext uri="{FF2B5EF4-FFF2-40B4-BE49-F238E27FC236}">
                <a16:creationId xmlns:a16="http://schemas.microsoft.com/office/drawing/2014/main" id="{F39FEEBC-0753-49F8-AE99-F5FF89A72093}"/>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05</a:t>
            </a:r>
          </a:p>
        </p:txBody>
      </p:sp>
      <p:sp>
        <p:nvSpPr>
          <p:cNvPr id="3" name="Solution">
            <a:extLst xmlns:a="http://schemas.openxmlformats.org/drawingml/2006/main">
              <a:ext uri="{FF2B5EF4-FFF2-40B4-BE49-F238E27FC236}">
                <a16:creationId xmlns:a16="http://schemas.microsoft.com/office/drawing/2014/main" id="{FAC8333E-1A4C-4A8E-84F1-6ED70EFAF391}"/>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Solution</a:t>
            </a:r>
          </a:p>
        </p:txBody>
      </p:sp>
      <p:sp>
        <p:nvSpPr>
          <p:cNvPr id="4" name="Browser">
            <a:extLst xmlns:a="http://schemas.openxmlformats.org/drawingml/2006/main">
              <a:ext uri="{FF2B5EF4-FFF2-40B4-BE49-F238E27FC236}">
                <a16:creationId xmlns:a16="http://schemas.microsoft.com/office/drawing/2014/main" id="{3863136F-000B-40B7-BC84-2A13EEF72D9A}"/>
              </a:ext>
            </a:extLst>
          </p:cNvPr>
          <p:cNvSpPr>
            <a:spLocks xmlns:a="http://schemas.openxmlformats.org/drawingml/2006/main" noGrp="1"/>
          </p:cNvSpPr>
          <p:nvPr/>
        </p:nvSpPr>
        <p:spPr>
          <a:xfrm xmlns:a="http://schemas.openxmlformats.org/drawingml/2006/main">
            <a:off x="647700" y="2343150"/>
            <a:ext cx="1905000" cy="809625"/>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Browser</a:t>
            </a:r>
          </a:p>
        </p:txBody>
      </p:sp>
      <p:sp>
        <p:nvSpPr>
          <p:cNvPr id="5" name="BFF web">
            <a:extLst xmlns:a="http://schemas.openxmlformats.org/drawingml/2006/main">
              <a:ext uri="{FF2B5EF4-FFF2-40B4-BE49-F238E27FC236}">
                <a16:creationId xmlns:a16="http://schemas.microsoft.com/office/drawing/2014/main" id="{FA9C7D7B-40F8-4C35-B804-C09E0581BD11}"/>
              </a:ext>
            </a:extLst>
          </p:cNvPr>
          <p:cNvSpPr>
            <a:spLocks xmlns:a="http://schemas.openxmlformats.org/drawingml/2006/main" noGrp="1"/>
          </p:cNvSpPr>
          <p:nvPr/>
        </p:nvSpPr>
        <p:spPr>
          <a:xfrm xmlns:a="http://schemas.openxmlformats.org/drawingml/2006/main">
            <a:off x="3409950" y="2343150"/>
            <a:ext cx="2428875" cy="809625"/>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BFF web</a:t>
            </a:r>
          </a:p>
        </p:txBody>
      </p:sp>
      <p:sp>
        <p:nvSpPr>
          <p:cNvPr id="6" name="User">
            <a:extLst xmlns:a="http://schemas.openxmlformats.org/drawingml/2006/main">
              <a:ext uri="{FF2B5EF4-FFF2-40B4-BE49-F238E27FC236}">
                <a16:creationId xmlns:a16="http://schemas.microsoft.com/office/drawing/2014/main" id="{978D049E-555A-49C0-A8CB-33822065B598}"/>
              </a:ext>
            </a:extLst>
          </p:cNvPr>
          <p:cNvSpPr>
            <a:spLocks xmlns:a="http://schemas.openxmlformats.org/drawingml/2006/main" noGrp="1"/>
          </p:cNvSpPr>
          <p:nvPr/>
        </p:nvSpPr>
        <p:spPr>
          <a:xfrm xmlns:a="http://schemas.openxmlformats.org/drawingml/2006/main">
            <a:off x="7210425" y="1971675"/>
            <a:ext cx="1952625" cy="685800"/>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User</a:t>
            </a:r>
          </a:p>
        </p:txBody>
      </p:sp>
      <p:sp>
        <p:nvSpPr>
          <p:cNvPr id="7" name="Order">
            <a:extLst xmlns:a="http://schemas.openxmlformats.org/drawingml/2006/main">
              <a:ext uri="{FF2B5EF4-FFF2-40B4-BE49-F238E27FC236}">
                <a16:creationId xmlns:a16="http://schemas.microsoft.com/office/drawing/2014/main" id="{5B154730-F566-468E-B3D6-DDCD7DF21B8E}"/>
              </a:ext>
            </a:extLst>
          </p:cNvPr>
          <p:cNvSpPr>
            <a:spLocks xmlns:a="http://schemas.openxmlformats.org/drawingml/2006/main" noGrp="1"/>
          </p:cNvSpPr>
          <p:nvPr/>
        </p:nvSpPr>
        <p:spPr>
          <a:xfrm xmlns:a="http://schemas.openxmlformats.org/drawingml/2006/main">
            <a:off x="7210425" y="3124200"/>
            <a:ext cx="1952625" cy="685800"/>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Order</a:t>
            </a:r>
          </a:p>
        </p:txBody>
      </p:sp>
      <p:sp>
        <p:nvSpPr>
          <p:cNvPr id="8" name="Product batch">
            <a:extLst xmlns:a="http://schemas.openxmlformats.org/drawingml/2006/main">
              <a:ext uri="{FF2B5EF4-FFF2-40B4-BE49-F238E27FC236}">
                <a16:creationId xmlns:a16="http://schemas.microsoft.com/office/drawing/2014/main" id="{73EAC0E8-AE07-4D44-84BD-477B33F9B51B}"/>
              </a:ext>
            </a:extLst>
          </p:cNvPr>
          <p:cNvSpPr>
            <a:spLocks xmlns:a="http://schemas.openxmlformats.org/drawingml/2006/main" noGrp="1"/>
          </p:cNvSpPr>
          <p:nvPr/>
        </p:nvSpPr>
        <p:spPr>
          <a:xfrm xmlns:a="http://schemas.openxmlformats.org/drawingml/2006/main">
            <a:off x="7210425" y="4648200"/>
            <a:ext cx="3571875" cy="742950"/>
          </a:xfrm>
          <a:prstGeom xmlns:a="http://schemas.openxmlformats.org/drawingml/2006/main" prst="rect">
            <a:avLst/>
          </a:prstGeom>
          <a:solidFill xmlns:a="http://schemas.openxmlformats.org/drawingml/2006/main">
            <a:srgbClr val="EDF6FC"/>
          </a:solidFill>
          <a:ln xmlns:a="http://schemas.openxmlformats.org/drawingml/2006/main" w="14288">
            <a:solidFill>
              <a:srgbClr val="0869B1"/>
            </a:solidFill>
          </a:ln>
        </p:spPr>
        <p:txBody>
          <a:bodyPr xmlns:a="http://schemas.openxmlformats.org/drawingml/2006/main" lIns="95250" tIns="95250" rIns="95250" bIns="95250" anchor="ctr"/>
          <a:lstStyle xmlns:a="http://schemas.openxmlformats.org/drawingml/2006/main">
            <a:defPPr algn="ctr">
              <a:defRPr sz="1950" b="1">
                <a:solidFill>
                  <a:srgbClr val="123D61"/>
                </a:solidFill>
                <a:latin typeface="Arial"/>
                <a:ea typeface="Arial"/>
                <a:cs typeface="Arial"/>
              </a:defRPr>
            </a:defPPr>
          </a:lstStyle>
          <a:p xmlns:a="http://schemas.openxmlformats.org/drawingml/2006/main">
            <a:pPr algn="ctr">
              <a:defRPr sz="1950" b="1">
                <a:solidFill>
                  <a:srgbClr val="123D61"/>
                </a:solidFill>
                <a:latin typeface="Arial"/>
                <a:ea typeface="Arial"/>
                <a:cs typeface="Arial"/>
              </a:defRPr>
            </a:pPr>
            <a:r>
              <a:rPr sz="1950" b="1">
                <a:solidFill>
                  <a:srgbClr val="123D61"/>
                </a:solidFill>
                <a:latin typeface="Arial"/>
                <a:ea typeface="Arial"/>
                <a:cs typeface="Arial"/>
              </a:rPr>
              <a:t>Product batch</a:t>
            </a:r>
          </a:p>
        </p:txBody>
      </p:sp>
      <p:sp>
        <p:nvSpPr>
          <p:cNvPr id="12" name="1 request">
            <a:extLst xmlns:a="http://schemas.openxmlformats.org/drawingml/2006/main">
              <a:ext uri="{FF2B5EF4-FFF2-40B4-BE49-F238E27FC236}">
                <a16:creationId xmlns:a16="http://schemas.microsoft.com/office/drawing/2014/main" id="{D58C19C9-12F1-4CB1-9493-3709D7083E66}"/>
              </a:ext>
            </a:extLst>
          </p:cNvPr>
          <p:cNvSpPr>
            <a:spLocks xmlns:a="http://schemas.openxmlformats.org/drawingml/2006/main" noGrp="1"/>
          </p:cNvSpPr>
          <p:nvPr/>
        </p:nvSpPr>
        <p:spPr>
          <a:xfrm xmlns:a="http://schemas.openxmlformats.org/drawingml/2006/main">
            <a:off x="2743200" y="17430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69B1"/>
                </a:solidFill>
                <a:latin typeface="Arial"/>
                <a:ea typeface="Arial"/>
                <a:cs typeface="Arial"/>
              </a:defRPr>
            </a:defPPr>
          </a:lstStyle>
          <a:p xmlns:a="http://schemas.openxmlformats.org/drawingml/2006/main">
            <a:pPr>
              <a:defRPr sz="2175" b="1">
                <a:solidFill>
                  <a:srgbClr val="0869B1"/>
                </a:solidFill>
                <a:latin typeface="Arial"/>
                <a:ea typeface="Arial"/>
                <a:cs typeface="Arial"/>
              </a:defRPr>
            </a:pPr>
            <a:r>
              <a:rPr sz="2175" b="1">
                <a:solidFill>
                  <a:srgbClr val="0869B1"/>
                </a:solidFill>
                <a:latin typeface="Arial"/>
                <a:ea typeface="Arial"/>
                <a:cs typeface="Arial"/>
              </a:rPr>
              <a:t>1 request</a:t>
            </a:r>
          </a:p>
        </p:txBody>
      </p:sp>
      <p:sp>
        <p:nvSpPr>
          <p:cNvPr id="13" name="User và Order&#10;chạy song song">
            <a:extLst xmlns:a="http://schemas.openxmlformats.org/drawingml/2006/main">
              <a:ext uri="{FF2B5EF4-FFF2-40B4-BE49-F238E27FC236}">
                <a16:creationId xmlns:a16="http://schemas.microsoft.com/office/drawing/2014/main" id="{F2D42AA1-BEA8-44D4-A6B9-1A86D8860476}"/>
              </a:ext>
            </a:extLst>
          </p:cNvPr>
          <p:cNvSpPr>
            <a:spLocks xmlns:a="http://schemas.openxmlformats.org/drawingml/2006/main" noGrp="1"/>
          </p:cNvSpPr>
          <p:nvPr/>
        </p:nvSpPr>
        <p:spPr>
          <a:xfrm xmlns:a="http://schemas.openxmlformats.org/drawingml/2006/main">
            <a:off x="9458325" y="2219325"/>
            <a:ext cx="1952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979"/>
                </a:solidFill>
                <a:latin typeface="Arial"/>
                <a:ea typeface="Arial"/>
                <a:cs typeface="Arial"/>
              </a:defRPr>
            </a:defPPr>
          </a:lstStyle>
          <a:p xmlns:a="http://schemas.openxmlformats.org/drawingml/2006/main">
            <a:pPr>
              <a:defRPr sz="1950" b="0">
                <a:solidFill>
                  <a:srgbClr val="516979"/>
                </a:solidFill>
                <a:latin typeface="Arial"/>
                <a:ea typeface="Arial"/>
                <a:cs typeface="Arial"/>
              </a:defRPr>
            </a:pPr>
            <a:r>
              <a:rPr sz="1950" b="0">
                <a:solidFill>
                  <a:srgbClr val="516979"/>
                </a:solidFill>
                <a:latin typeface="Arial"/>
                <a:ea typeface="Arial"/>
                <a:cs typeface="Arial"/>
              </a:rPr>
              <a:t>User và Order</a:t>
            </a:r>
          </a:p>
          <a:p xmlns:a="http://schemas.openxmlformats.org/drawingml/2006/main">
            <a:pPr>
              <a:defRPr sz="1950" b="0">
                <a:solidFill>
                  <a:srgbClr val="516979"/>
                </a:solidFill>
                <a:latin typeface="Arial"/>
                <a:ea typeface="Arial"/>
                <a:cs typeface="Arial"/>
              </a:defRPr>
            </a:pPr>
            <a:r>
              <a:rPr sz="1950" b="0">
                <a:solidFill>
                  <a:srgbClr val="516979"/>
                </a:solidFill>
                <a:latin typeface="Arial"/>
                <a:ea typeface="Arial"/>
                <a:cs typeface="Arial"/>
              </a:rPr>
              <a:t>chạy song song</a:t>
            </a:r>
          </a:p>
        </p:txBody>
      </p:sp>
      <p:sp>
        <p:nvSpPr>
          <p:cNvPr id="15" name="Set loại ID trùng&#10;Map ghép đúng product">
            <a:extLst xmlns:a="http://schemas.openxmlformats.org/drawingml/2006/main">
              <a:ext uri="{FF2B5EF4-FFF2-40B4-BE49-F238E27FC236}">
                <a16:creationId xmlns:a16="http://schemas.microsoft.com/office/drawing/2014/main" id="{D2E5FBC4-6325-4875-8163-B45A445170F3}"/>
              </a:ext>
            </a:extLst>
          </p:cNvPr>
          <p:cNvSpPr>
            <a:spLocks xmlns:a="http://schemas.openxmlformats.org/drawingml/2006/main" noGrp="1"/>
          </p:cNvSpPr>
          <p:nvPr/>
        </p:nvSpPr>
        <p:spPr>
          <a:xfrm xmlns:a="http://schemas.openxmlformats.org/drawingml/2006/main">
            <a:off x="647700" y="45053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23D61"/>
                </a:solidFill>
                <a:latin typeface="Arial"/>
                <a:ea typeface="Arial"/>
                <a:cs typeface="Arial"/>
              </a:defRPr>
            </a:defPPr>
          </a:lstStyle>
          <a:p xmlns:a="http://schemas.openxmlformats.org/drawingml/2006/main">
            <a:pPr>
              <a:defRPr sz="2325" b="1">
                <a:solidFill>
                  <a:srgbClr val="123D61"/>
                </a:solidFill>
                <a:latin typeface="Arial"/>
                <a:ea typeface="Arial"/>
                <a:cs typeface="Arial"/>
              </a:defRPr>
            </a:pPr>
            <a:r>
              <a:rPr sz="2325" b="1">
                <a:solidFill>
                  <a:srgbClr val="123D61"/>
                </a:solidFill>
                <a:latin typeface="Arial"/>
                <a:ea typeface="Arial"/>
                <a:cs typeface="Arial"/>
              </a:rPr>
              <a:t>Set loại ID trùng</a:t>
            </a:r>
          </a:p>
          <a:p xmlns:a="http://schemas.openxmlformats.org/drawingml/2006/main">
            <a:pPr>
              <a:defRPr sz="2325" b="1">
                <a:solidFill>
                  <a:srgbClr val="123D61"/>
                </a:solidFill>
                <a:latin typeface="Arial"/>
                <a:ea typeface="Arial"/>
                <a:cs typeface="Arial"/>
              </a:defRPr>
            </a:pPr>
            <a:r>
              <a:rPr sz="2325" b="1">
                <a:solidFill>
                  <a:srgbClr val="123D61"/>
                </a:solidFill>
                <a:latin typeface="Arial"/>
                <a:ea typeface="Arial"/>
                <a:cs typeface="Arial"/>
              </a:rPr>
              <a:t>Map ghép đúng product</a:t>
            </a:r>
          </a:p>
        </p:txBody>
      </p:sp>
      <p:sp>
        <p:nvSpPr>
          <p:cNvPr id="16" name="GET /bff/web/dashboard/u1">
            <a:extLst xmlns:a="http://schemas.openxmlformats.org/drawingml/2006/main">
              <a:ext uri="{FF2B5EF4-FFF2-40B4-BE49-F238E27FC236}">
                <a16:creationId xmlns:a16="http://schemas.microsoft.com/office/drawing/2014/main" id="{337EAB54-6A9C-4123-8E9D-A2CD6EF45834}"/>
              </a:ext>
            </a:extLst>
          </p:cNvPr>
          <p:cNvSpPr>
            <a:spLocks xmlns:a="http://schemas.openxmlformats.org/drawingml/2006/main" noGrp="1"/>
          </p:cNvSpPr>
          <p:nvPr/>
        </p:nvSpPr>
        <p:spPr>
          <a:xfrm xmlns:a="http://schemas.openxmlformats.org/drawingml/2006/main">
            <a:off x="647700" y="57340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979"/>
                </a:solidFill>
                <a:latin typeface="Arial"/>
                <a:ea typeface="Arial"/>
                <a:cs typeface="Arial"/>
              </a:defRPr>
            </a:defPPr>
          </a:lstStyle>
          <a:p xmlns:a="http://schemas.openxmlformats.org/drawingml/2006/main">
            <a:pPr>
              <a:defRPr sz="2025" b="0">
                <a:solidFill>
                  <a:srgbClr val="516979"/>
                </a:solidFill>
                <a:latin typeface="Arial"/>
                <a:ea typeface="Arial"/>
                <a:cs typeface="Arial"/>
              </a:defRPr>
            </a:pPr>
            <a:r>
              <a:rPr sz="2025" b="0">
                <a:solidFill>
                  <a:srgbClr val="516979"/>
                </a:solidFill>
                <a:latin typeface="Arial"/>
                <a:ea typeface="Arial"/>
                <a:cs typeface="Arial"/>
              </a:rPr>
              <a:t>GET /bff/web/dashboard/u1</a:t>
            </a:r>
          </a:p>
        </p:txBody>
      </p:sp>
    </p:spTree>
    <p:extLst>
      <p:ext uri="{BB962C8B-B14F-4D97-AF65-F5344CB8AC3E}">
        <p14:creationId xmlns:p14="http://schemas.microsoft.com/office/powerpoint/2010/main" val="1513562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2E8D227-B51F-4B31-91BB-874469A7CEAD}"/>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Một request GraphQL vẫn có N+1</a:t>
            </a:r>
          </a:p>
        </p:txBody>
      </p:sp>
      <p:sp>
        <p:nvSpPr>
          <p:cNvPr id="2" name="06">
            <a:extLst xmlns:a="http://schemas.openxmlformats.org/drawingml/2006/main">
              <a:ext uri="{FF2B5EF4-FFF2-40B4-BE49-F238E27FC236}">
                <a16:creationId xmlns:a16="http://schemas.microsoft.com/office/drawing/2014/main" id="{ED275F3F-5CFD-444D-AE53-8993A5AD3FE8}"/>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06</a:t>
            </a:r>
          </a:p>
        </p:txBody>
      </p:sp>
      <p:sp>
        <p:nvSpPr>
          <p:cNvPr id="3" name="Solution">
            <a:extLst xmlns:a="http://schemas.openxmlformats.org/drawingml/2006/main">
              <a:ext uri="{FF2B5EF4-FFF2-40B4-BE49-F238E27FC236}">
                <a16:creationId xmlns:a16="http://schemas.microsoft.com/office/drawing/2014/main" id="{F652D387-137D-45F5-84B8-C39ABAC25D79}"/>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Solution</a:t>
            </a:r>
          </a:p>
        </p:txBody>
      </p:sp>
      <p:sp>
        <p:nvSpPr>
          <p:cNvPr id="4" name="Client: 1 request">
            <a:extLst xmlns:a="http://schemas.openxmlformats.org/drawingml/2006/main">
              <a:ext uri="{FF2B5EF4-FFF2-40B4-BE49-F238E27FC236}">
                <a16:creationId xmlns:a16="http://schemas.microsoft.com/office/drawing/2014/main" id="{4C3E3CC6-73E5-4B85-BD79-5884FBA5A1EB}"/>
              </a:ext>
            </a:extLst>
          </p:cNvPr>
          <p:cNvSpPr>
            <a:spLocks xmlns:a="http://schemas.openxmlformats.org/drawingml/2006/main" noGrp="1"/>
          </p:cNvSpPr>
          <p:nvPr/>
        </p:nvSpPr>
        <p:spPr>
          <a:xfrm xmlns:a="http://schemas.openxmlformats.org/drawingml/2006/main">
            <a:off x="647700" y="171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869B1"/>
                </a:solidFill>
                <a:latin typeface="Arial"/>
                <a:ea typeface="Arial"/>
                <a:cs typeface="Arial"/>
              </a:defRPr>
            </a:defPPr>
          </a:lstStyle>
          <a:p xmlns:a="http://schemas.openxmlformats.org/drawingml/2006/main">
            <a:pPr>
              <a:defRPr sz="2775" b="1">
                <a:solidFill>
                  <a:srgbClr val="0869B1"/>
                </a:solidFill>
                <a:latin typeface="Arial"/>
                <a:ea typeface="Arial"/>
                <a:cs typeface="Arial"/>
              </a:defRPr>
            </a:pPr>
            <a:r>
              <a:rPr sz="2775" b="1">
                <a:solidFill>
                  <a:srgbClr val="0869B1"/>
                </a:solidFill>
                <a:latin typeface="Arial"/>
                <a:ea typeface="Arial"/>
                <a:cs typeface="Arial"/>
              </a:rPr>
              <a:t>Client: 1 request</a:t>
            </a:r>
          </a:p>
        </p:txBody>
      </p:sp>
      <p:sp>
        <p:nvSpPr>
          <p:cNvPr id="5" name="Query.user gọi User&#10;User.orders gọi Orde">
            <a:extLst xmlns:a="http://schemas.openxmlformats.org/drawingml/2006/main">
              <a:ext uri="{FF2B5EF4-FFF2-40B4-BE49-F238E27FC236}">
                <a16:creationId xmlns:a16="http://schemas.microsoft.com/office/drawing/2014/main" id="{154839C7-A40B-448C-BDCA-E46EE772338B}"/>
              </a:ext>
            </a:extLst>
          </p:cNvPr>
          <p:cNvSpPr>
            <a:spLocks xmlns:a="http://schemas.openxmlformats.org/drawingml/2006/main" noGrp="1"/>
          </p:cNvSpPr>
          <p:nvPr/>
        </p:nvSpPr>
        <p:spPr>
          <a:xfrm xmlns:a="http://schemas.openxmlformats.org/drawingml/2006/main">
            <a:off x="647700" y="2724150"/>
            <a:ext cx="5810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83448"/>
                </a:solidFill>
                <a:latin typeface="Arial"/>
                <a:ea typeface="Arial"/>
                <a:cs typeface="Arial"/>
              </a:defRPr>
            </a:defPPr>
          </a:lstStyle>
          <a:p xmlns:a="http://schemas.openxmlformats.org/drawingml/2006/main">
            <a:pPr>
              <a:defRPr sz="2400" b="0">
                <a:solidFill>
                  <a:srgbClr val="183448"/>
                </a:solidFill>
                <a:latin typeface="Arial"/>
                <a:ea typeface="Arial"/>
                <a:cs typeface="Arial"/>
              </a:defRPr>
            </a:pPr>
            <a:r>
              <a:rPr sz="2400" b="0">
                <a:solidFill>
                  <a:srgbClr val="183448"/>
                </a:solidFill>
                <a:latin typeface="Arial"/>
                <a:ea typeface="Arial"/>
                <a:cs typeface="Arial"/>
              </a:rPr>
              <a:t>Query.user gọi User</a:t>
            </a:r>
          </a:p>
          <a:p xmlns:a="http://schemas.openxmlformats.org/drawingml/2006/main">
            <a:pPr>
              <a:defRPr sz="2400" b="0">
                <a:solidFill>
                  <a:srgbClr val="183448"/>
                </a:solidFill>
                <a:latin typeface="Arial"/>
                <a:ea typeface="Arial"/>
                <a:cs typeface="Arial"/>
              </a:defRPr>
            </a:pPr>
            <a:r>
              <a:rPr sz="2400" b="0">
                <a:solidFill>
                  <a:srgbClr val="183448"/>
                </a:solidFill>
                <a:latin typeface="Arial"/>
                <a:ea typeface="Arial"/>
                <a:cs typeface="Arial"/>
              </a:rPr>
              <a:t>User.orders gọi Order</a:t>
            </a:r>
          </a:p>
          <a:p xmlns:a="http://schemas.openxmlformats.org/drawingml/2006/main">
            <a:pPr>
              <a:defRPr sz="2400" b="0">
                <a:solidFill>
                  <a:srgbClr val="183448"/>
                </a:solidFill>
                <a:latin typeface="Arial"/>
                <a:ea typeface="Arial"/>
                <a:cs typeface="Arial"/>
              </a:defRPr>
            </a:pPr>
            <a:r>
              <a:rPr sz="2400" b="0">
                <a:solidFill>
                  <a:srgbClr val="183448"/>
                </a:solidFill>
                <a:latin typeface="Arial"/>
                <a:ea typeface="Arial"/>
                <a:cs typeface="Arial"/>
              </a:rPr>
              <a:t>Order.product gọi Product cho từng đơn</a:t>
            </a:r>
          </a:p>
        </p:txBody>
      </p:sp>
      <p:sp>
        <p:nvSpPr>
          <p:cNvPr id="6" name="5">
            <a:extLst xmlns:a="http://schemas.openxmlformats.org/drawingml/2006/main">
              <a:ext uri="{FF2B5EF4-FFF2-40B4-BE49-F238E27FC236}">
                <a16:creationId xmlns:a16="http://schemas.microsoft.com/office/drawing/2014/main" id="{6B63A2FA-E2D1-4FBF-A24B-624E616C4179}"/>
              </a:ext>
            </a:extLst>
          </p:cNvPr>
          <p:cNvSpPr>
            <a:spLocks xmlns:a="http://schemas.openxmlformats.org/drawingml/2006/main" noGrp="1"/>
          </p:cNvSpPr>
          <p:nvPr/>
        </p:nvSpPr>
        <p:spPr>
          <a:xfrm xmlns:a="http://schemas.openxmlformats.org/drawingml/2006/main">
            <a:off x="7924800" y="2305050"/>
            <a:ext cx="285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0869B1"/>
                </a:solidFill>
                <a:latin typeface="Arial"/>
                <a:ea typeface="Arial"/>
                <a:cs typeface="Arial"/>
              </a:defRPr>
            </a:defPPr>
          </a:lstStyle>
          <a:p xmlns:a="http://schemas.openxmlformats.org/drawingml/2006/main">
            <a:pPr>
              <a:defRPr sz="6000" b="1">
                <a:solidFill>
                  <a:srgbClr val="0869B1"/>
                </a:solidFill>
                <a:latin typeface="Arial"/>
                <a:ea typeface="Arial"/>
                <a:cs typeface="Arial"/>
              </a:defRPr>
            </a:pPr>
            <a:r>
              <a:rPr sz="6000" b="1">
                <a:solidFill>
                  <a:srgbClr val="0869B1"/>
                </a:solidFill>
                <a:latin typeface="Arial"/>
                <a:ea typeface="Arial"/>
                <a:cs typeface="Arial"/>
              </a:rPr>
              <a:t>5</a:t>
            </a:r>
          </a:p>
        </p:txBody>
      </p:sp>
      <p:sp>
        <p:nvSpPr>
          <p:cNvPr id="7" name="call Product với 5 đơn">
            <a:extLst xmlns:a="http://schemas.openxmlformats.org/drawingml/2006/main">
              <a:ext uri="{FF2B5EF4-FFF2-40B4-BE49-F238E27FC236}">
                <a16:creationId xmlns:a16="http://schemas.microsoft.com/office/drawing/2014/main" id="{AD1D3E0C-3643-4454-A26C-BC91057EA8DF}"/>
              </a:ext>
            </a:extLst>
          </p:cNvPr>
          <p:cNvSpPr>
            <a:spLocks xmlns:a="http://schemas.openxmlformats.org/drawingml/2006/main" noGrp="1"/>
          </p:cNvSpPr>
          <p:nvPr/>
        </p:nvSpPr>
        <p:spPr>
          <a:xfrm xmlns:a="http://schemas.openxmlformats.org/drawingml/2006/main">
            <a:off x="7324725" y="3333750"/>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call Product với 5 đơn</a:t>
            </a:r>
          </a:p>
        </p:txBody>
      </p:sp>
      <p:sp>
        <p:nvSpPr>
          <p:cNvPr id="8" name="200">
            <a:extLst xmlns:a="http://schemas.openxmlformats.org/drawingml/2006/main">
              <a:ext uri="{FF2B5EF4-FFF2-40B4-BE49-F238E27FC236}">
                <a16:creationId xmlns:a16="http://schemas.microsoft.com/office/drawing/2014/main" id="{5F34BBAA-CED9-4EBB-A98D-B6F573260B37}"/>
              </a:ext>
            </a:extLst>
          </p:cNvPr>
          <p:cNvSpPr>
            <a:spLocks xmlns:a="http://schemas.openxmlformats.org/drawingml/2006/main" noGrp="1"/>
          </p:cNvSpPr>
          <p:nvPr/>
        </p:nvSpPr>
        <p:spPr>
          <a:xfrm xmlns:a="http://schemas.openxmlformats.org/drawingml/2006/main">
            <a:off x="7562850" y="4333875"/>
            <a:ext cx="3810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0869B1"/>
                </a:solidFill>
                <a:latin typeface="Arial"/>
                <a:ea typeface="Arial"/>
                <a:cs typeface="Arial"/>
              </a:defRPr>
            </a:defPPr>
          </a:lstStyle>
          <a:p xmlns:a="http://schemas.openxmlformats.org/drawingml/2006/main">
            <a:pPr>
              <a:defRPr sz="6000" b="1">
                <a:solidFill>
                  <a:srgbClr val="0869B1"/>
                </a:solidFill>
                <a:latin typeface="Arial"/>
                <a:ea typeface="Arial"/>
                <a:cs typeface="Arial"/>
              </a:defRPr>
            </a:pPr>
            <a:r>
              <a:rPr sz="6000" b="1">
                <a:solidFill>
                  <a:srgbClr val="0869B1"/>
                </a:solidFill>
                <a:latin typeface="Arial"/>
                <a:ea typeface="Arial"/>
                <a:cs typeface="Arial"/>
              </a:rPr>
              <a:t>200</a:t>
            </a:r>
          </a:p>
        </p:txBody>
      </p:sp>
      <p:sp>
        <p:nvSpPr>
          <p:cNvPr id="9" name="call Product với 200 đơn">
            <a:extLst xmlns:a="http://schemas.openxmlformats.org/drawingml/2006/main">
              <a:ext uri="{FF2B5EF4-FFF2-40B4-BE49-F238E27FC236}">
                <a16:creationId xmlns:a16="http://schemas.microsoft.com/office/drawing/2014/main" id="{F3C40833-F938-4165-BA2F-658AEC4C7D9D}"/>
              </a:ext>
            </a:extLst>
          </p:cNvPr>
          <p:cNvSpPr>
            <a:spLocks xmlns:a="http://schemas.openxmlformats.org/drawingml/2006/main" noGrp="1"/>
          </p:cNvSpPr>
          <p:nvPr/>
        </p:nvSpPr>
        <p:spPr>
          <a:xfrm xmlns:a="http://schemas.openxmlformats.org/drawingml/2006/main">
            <a:off x="6953250" y="5391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call Product với 200 đơn</a:t>
            </a:r>
          </a:p>
        </p:txBody>
      </p:sp>
      <p:sp>
        <p:nvSpPr>
          <p:cNvPr id="10" name="Resolver naive gọi getProduct(order.prod">
            <a:extLst xmlns:a="http://schemas.openxmlformats.org/drawingml/2006/main">
              <a:ext uri="{FF2B5EF4-FFF2-40B4-BE49-F238E27FC236}">
                <a16:creationId xmlns:a16="http://schemas.microsoft.com/office/drawing/2014/main" id="{AE0F81F4-F2C2-4150-801D-F77C0EEFF1D2}"/>
              </a:ext>
            </a:extLst>
          </p:cNvPr>
          <p:cNvSpPr>
            <a:spLocks xmlns:a="http://schemas.openxmlformats.org/drawingml/2006/main" noGrp="1"/>
          </p:cNvSpPr>
          <p:nvPr/>
        </p:nvSpPr>
        <p:spPr>
          <a:xfrm xmlns:a="http://schemas.openxmlformats.org/drawingml/2006/main">
            <a:off x="647700" y="5486400"/>
            <a:ext cx="590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979"/>
                </a:solidFill>
                <a:latin typeface="Arial"/>
                <a:ea typeface="Arial"/>
                <a:cs typeface="Arial"/>
              </a:defRPr>
            </a:defPPr>
          </a:lstStyle>
          <a:p xmlns:a="http://schemas.openxmlformats.org/drawingml/2006/main">
            <a:pPr>
              <a:defRPr sz="1800" b="0">
                <a:solidFill>
                  <a:srgbClr val="516979"/>
                </a:solidFill>
                <a:latin typeface="Arial"/>
                <a:ea typeface="Arial"/>
                <a:cs typeface="Arial"/>
              </a:defRPr>
            </a:pPr>
            <a:r>
              <a:rPr sz="1800" b="0">
                <a:solidFill>
                  <a:srgbClr val="516979"/>
                </a:solidFill>
                <a:latin typeface="Arial"/>
                <a:ea typeface="Arial"/>
                <a:cs typeface="Arial"/>
              </a:rPr>
              <a:t>Resolver naive gọi getProduct(order.productId)</a:t>
            </a:r>
          </a:p>
        </p:txBody>
      </p:sp>
    </p:spTree>
    <p:extLst>
      <p:ext uri="{BB962C8B-B14F-4D97-AF65-F5344CB8AC3E}">
        <p14:creationId xmlns:p14="http://schemas.microsoft.com/office/powerpoint/2010/main" val="1947728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B2C58521-FC55-4BED-8679-6724D6555ECE}"/>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DataLoader gom Product trong từng request</a:t>
            </a:r>
          </a:p>
        </p:txBody>
      </p:sp>
      <p:sp>
        <p:nvSpPr>
          <p:cNvPr id="2" name="07">
            <a:extLst xmlns:a="http://schemas.openxmlformats.org/drawingml/2006/main">
              <a:ext uri="{FF2B5EF4-FFF2-40B4-BE49-F238E27FC236}">
                <a16:creationId xmlns:a16="http://schemas.microsoft.com/office/drawing/2014/main" id="{4394BDC3-13AC-4B68-A536-C05F92BCFE9B}"/>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07</a:t>
            </a:r>
          </a:p>
        </p:txBody>
      </p:sp>
      <p:sp>
        <p:nvSpPr>
          <p:cNvPr id="3" name="Solution">
            <a:extLst xmlns:a="http://schemas.openxmlformats.org/drawingml/2006/main">
              <a:ext uri="{FF2B5EF4-FFF2-40B4-BE49-F238E27FC236}">
                <a16:creationId xmlns:a16="http://schemas.microsoft.com/office/drawing/2014/main" id="{A8A913F2-210B-49A2-B7D0-768E13D7A86B}"/>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Solution</a:t>
            </a:r>
          </a:p>
        </p:txBody>
      </p:sp>
      <p:sp>
        <p:nvSpPr>
          <p:cNvPr id="4" name="01">
            <a:extLst xmlns:a="http://schemas.openxmlformats.org/drawingml/2006/main">
              <a:ext uri="{FF2B5EF4-FFF2-40B4-BE49-F238E27FC236}">
                <a16:creationId xmlns:a16="http://schemas.microsoft.com/office/drawing/2014/main" id="{E6D4CC30-3FA7-400D-94FB-1DEDE10044F0}"/>
              </a:ext>
            </a:extLst>
          </p:cNvPr>
          <p:cNvSpPr>
            <a:spLocks xmlns:a="http://schemas.openxmlformats.org/drawingml/2006/main" noGrp="1"/>
          </p:cNvSpPr>
          <p:nvPr/>
        </p:nvSpPr>
        <p:spPr>
          <a:xfrm xmlns:a="http://schemas.openxmlformats.org/drawingml/2006/main">
            <a:off x="647700" y="17430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01</a:t>
            </a:r>
          </a:p>
        </p:txBody>
      </p:sp>
      <p:sp>
        <p:nvSpPr>
          <p:cNvPr id="5" name="Nhiều load(): p1, p2, p3, p2, p1">
            <a:extLst xmlns:a="http://schemas.openxmlformats.org/drawingml/2006/main">
              <a:ext uri="{FF2B5EF4-FFF2-40B4-BE49-F238E27FC236}">
                <a16:creationId xmlns:a16="http://schemas.microsoft.com/office/drawing/2014/main" id="{FC392312-1530-4B0E-B1AB-57BBC5DBAD25}"/>
              </a:ext>
            </a:extLst>
          </p:cNvPr>
          <p:cNvSpPr>
            <a:spLocks xmlns:a="http://schemas.openxmlformats.org/drawingml/2006/main" noGrp="1"/>
          </p:cNvSpPr>
          <p:nvPr/>
        </p:nvSpPr>
        <p:spPr>
          <a:xfrm xmlns:a="http://schemas.openxmlformats.org/drawingml/2006/main">
            <a:off x="1428750" y="1743075"/>
            <a:ext cx="76009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Nhiều load(): p1, p2, p3, p2, p1</a:t>
            </a:r>
          </a:p>
        </p:txBody>
      </p:sp>
      <p:sp>
        <p:nvSpPr>
          <p:cNvPr id="6" name="02">
            <a:extLst xmlns:a="http://schemas.openxmlformats.org/drawingml/2006/main">
              <a:ext uri="{FF2B5EF4-FFF2-40B4-BE49-F238E27FC236}">
                <a16:creationId xmlns:a16="http://schemas.microsoft.com/office/drawing/2014/main" id="{13E0013C-241D-4143-99C0-27A20889BCB8}"/>
              </a:ext>
            </a:extLst>
          </p:cNvPr>
          <p:cNvSpPr>
            <a:spLocks xmlns:a="http://schemas.openxmlformats.org/drawingml/2006/main" noGrp="1"/>
          </p:cNvSpPr>
          <p:nvPr/>
        </p:nvSpPr>
        <p:spPr>
          <a:xfrm xmlns:a="http://schemas.openxmlformats.org/drawingml/2006/main">
            <a:off x="647700" y="26574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02</a:t>
            </a:r>
          </a:p>
        </p:txBody>
      </p:sp>
      <p:sp>
        <p:nvSpPr>
          <p:cNvPr id="7" name="Dedup thành p1, p2, p3">
            <a:extLst xmlns:a="http://schemas.openxmlformats.org/drawingml/2006/main">
              <a:ext uri="{FF2B5EF4-FFF2-40B4-BE49-F238E27FC236}">
                <a16:creationId xmlns:a16="http://schemas.microsoft.com/office/drawing/2014/main" id="{AB23D42E-3B1F-4421-B5C9-7A86DA0E8043}"/>
              </a:ext>
            </a:extLst>
          </p:cNvPr>
          <p:cNvSpPr>
            <a:spLocks xmlns:a="http://schemas.openxmlformats.org/drawingml/2006/main" noGrp="1"/>
          </p:cNvSpPr>
          <p:nvPr/>
        </p:nvSpPr>
        <p:spPr>
          <a:xfrm xmlns:a="http://schemas.openxmlformats.org/drawingml/2006/main">
            <a:off x="1428750" y="2657475"/>
            <a:ext cx="76009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Dedup thành p1, p2, p3</a:t>
            </a:r>
          </a:p>
        </p:txBody>
      </p:sp>
      <p:sp>
        <p:nvSpPr>
          <p:cNvPr id="8" name="03">
            <a:extLst xmlns:a="http://schemas.openxmlformats.org/drawingml/2006/main">
              <a:ext uri="{FF2B5EF4-FFF2-40B4-BE49-F238E27FC236}">
                <a16:creationId xmlns:a16="http://schemas.microsoft.com/office/drawing/2014/main" id="{18CC528A-FAB2-4D77-9BC2-3B94427EFF1A}"/>
              </a:ext>
            </a:extLst>
          </p:cNvPr>
          <p:cNvSpPr>
            <a:spLocks xmlns:a="http://schemas.openxmlformats.org/drawingml/2006/main" noGrp="1"/>
          </p:cNvSpPr>
          <p:nvPr/>
        </p:nvSpPr>
        <p:spPr>
          <a:xfrm xmlns:a="http://schemas.openxmlformats.org/drawingml/2006/main">
            <a:off x="647700" y="3571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03</a:t>
            </a:r>
          </a:p>
        </p:txBody>
      </p:sp>
      <p:sp>
        <p:nvSpPr>
          <p:cNvPr id="9" name="Hàm batch gọi getProductsByIds(ids)">
            <a:extLst xmlns:a="http://schemas.openxmlformats.org/drawingml/2006/main">
              <a:ext uri="{FF2B5EF4-FFF2-40B4-BE49-F238E27FC236}">
                <a16:creationId xmlns:a16="http://schemas.microsoft.com/office/drawing/2014/main" id="{195F275E-2579-40E1-85E1-C7DBCF4793E1}"/>
              </a:ext>
            </a:extLst>
          </p:cNvPr>
          <p:cNvSpPr>
            <a:spLocks xmlns:a="http://schemas.openxmlformats.org/drawingml/2006/main" noGrp="1"/>
          </p:cNvSpPr>
          <p:nvPr/>
        </p:nvSpPr>
        <p:spPr>
          <a:xfrm xmlns:a="http://schemas.openxmlformats.org/drawingml/2006/main">
            <a:off x="1428750" y="3571875"/>
            <a:ext cx="76009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Hàm batch gọi getProductsByIds(ids)</a:t>
            </a:r>
          </a:p>
        </p:txBody>
      </p:sp>
      <p:sp>
        <p:nvSpPr>
          <p:cNvPr id="10" name="04">
            <a:extLst xmlns:a="http://schemas.openxmlformats.org/drawingml/2006/main">
              <a:ext uri="{FF2B5EF4-FFF2-40B4-BE49-F238E27FC236}">
                <a16:creationId xmlns:a16="http://schemas.microsoft.com/office/drawing/2014/main" id="{CB97182F-F910-43F0-827C-689F17232A7D}"/>
              </a:ext>
            </a:extLst>
          </p:cNvPr>
          <p:cNvSpPr>
            <a:spLocks xmlns:a="http://schemas.openxmlformats.org/drawingml/2006/main" noGrp="1"/>
          </p:cNvSpPr>
          <p:nvPr/>
        </p:nvSpPr>
        <p:spPr>
          <a:xfrm xmlns:a="http://schemas.openxmlformats.org/drawingml/2006/main">
            <a:off x="647700" y="44862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04</a:t>
            </a:r>
          </a:p>
        </p:txBody>
      </p:sp>
      <p:sp>
        <p:nvSpPr>
          <p:cNvPr id="11" name="Map trả đúng vị trí của mỗi key">
            <a:extLst xmlns:a="http://schemas.openxmlformats.org/drawingml/2006/main">
              <a:ext uri="{FF2B5EF4-FFF2-40B4-BE49-F238E27FC236}">
                <a16:creationId xmlns:a16="http://schemas.microsoft.com/office/drawing/2014/main" id="{E186F5CA-7883-4F38-AD1F-4F506C5D50F7}"/>
              </a:ext>
            </a:extLst>
          </p:cNvPr>
          <p:cNvSpPr>
            <a:spLocks xmlns:a="http://schemas.openxmlformats.org/drawingml/2006/main" noGrp="1"/>
          </p:cNvSpPr>
          <p:nvPr/>
        </p:nvSpPr>
        <p:spPr>
          <a:xfrm xmlns:a="http://schemas.openxmlformats.org/drawingml/2006/main">
            <a:off x="1428750" y="4486275"/>
            <a:ext cx="76009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Map trả đúng vị trí của mỗi key</a:t>
            </a:r>
          </a:p>
        </p:txBody>
      </p:sp>
      <p:sp>
        <p:nvSpPr>
          <p:cNvPr id="12" name="1">
            <a:extLst xmlns:a="http://schemas.openxmlformats.org/drawingml/2006/main">
              <a:ext uri="{FF2B5EF4-FFF2-40B4-BE49-F238E27FC236}">
                <a16:creationId xmlns:a16="http://schemas.microsoft.com/office/drawing/2014/main" id="{ADE1468D-DDEA-4B3C-82A6-7FE609DE417A}"/>
              </a:ext>
            </a:extLst>
          </p:cNvPr>
          <p:cNvSpPr>
            <a:spLocks xmlns:a="http://schemas.openxmlformats.org/drawingml/2006/main" noGrp="1"/>
          </p:cNvSpPr>
          <p:nvPr/>
        </p:nvSpPr>
        <p:spPr>
          <a:xfrm xmlns:a="http://schemas.openxmlformats.org/drawingml/2006/main">
            <a:off x="9658350" y="2200275"/>
            <a:ext cx="1714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0" b="1">
                <a:solidFill>
                  <a:srgbClr val="0869B1"/>
                </a:solidFill>
                <a:latin typeface="Arial"/>
                <a:ea typeface="Arial"/>
                <a:cs typeface="Arial"/>
              </a:defRPr>
            </a:defPPr>
          </a:lstStyle>
          <a:p xmlns:a="http://schemas.openxmlformats.org/drawingml/2006/main">
            <a:pPr>
              <a:defRPr sz="8250" b="1">
                <a:solidFill>
                  <a:srgbClr val="0869B1"/>
                </a:solidFill>
                <a:latin typeface="Arial"/>
                <a:ea typeface="Arial"/>
                <a:cs typeface="Arial"/>
              </a:defRPr>
            </a:pPr>
            <a:r>
              <a:rPr sz="8250" b="1">
                <a:solidFill>
                  <a:srgbClr val="0869B1"/>
                </a:solidFill>
                <a:latin typeface="Arial"/>
                <a:ea typeface="Arial"/>
                <a:cs typeface="Arial"/>
              </a:rPr>
              <a:t>1</a:t>
            </a:r>
          </a:p>
        </p:txBody>
      </p:sp>
      <p:sp>
        <p:nvSpPr>
          <p:cNvPr id="13" name="call Product&#10;ở small và large">
            <a:extLst xmlns:a="http://schemas.openxmlformats.org/drawingml/2006/main">
              <a:ext uri="{FF2B5EF4-FFF2-40B4-BE49-F238E27FC236}">
                <a16:creationId xmlns:a16="http://schemas.microsoft.com/office/drawing/2014/main" id="{ACF25914-E3DC-457C-B869-82CDB0A5B9DD}"/>
              </a:ext>
            </a:extLst>
          </p:cNvPr>
          <p:cNvSpPr>
            <a:spLocks xmlns:a="http://schemas.openxmlformats.org/drawingml/2006/main" noGrp="1"/>
          </p:cNvSpPr>
          <p:nvPr/>
        </p:nvSpPr>
        <p:spPr>
          <a:xfrm xmlns:a="http://schemas.openxmlformats.org/drawingml/2006/main">
            <a:off x="9172575" y="3609975"/>
            <a:ext cx="2381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3D61"/>
                </a:solidFill>
                <a:latin typeface="Arial"/>
                <a:ea typeface="Arial"/>
                <a:cs typeface="Arial"/>
              </a:defRPr>
            </a:defPPr>
          </a:lstStyle>
          <a:p xmlns:a="http://schemas.openxmlformats.org/drawingml/2006/main">
            <a:pPr>
              <a:defRPr sz="2175" b="1">
                <a:solidFill>
                  <a:srgbClr val="123D61"/>
                </a:solidFill>
                <a:latin typeface="Arial"/>
                <a:ea typeface="Arial"/>
                <a:cs typeface="Arial"/>
              </a:defRPr>
            </a:pPr>
            <a:r>
              <a:rPr sz="2175" b="1">
                <a:solidFill>
                  <a:srgbClr val="123D61"/>
                </a:solidFill>
                <a:latin typeface="Arial"/>
                <a:ea typeface="Arial"/>
                <a:cs typeface="Arial"/>
              </a:rPr>
              <a:t>call Product</a:t>
            </a:r>
          </a:p>
          <a:p xmlns:a="http://schemas.openxmlformats.org/drawingml/2006/main">
            <a:pPr>
              <a:defRPr sz="2175" b="1">
                <a:solidFill>
                  <a:srgbClr val="123D61"/>
                </a:solidFill>
                <a:latin typeface="Arial"/>
                <a:ea typeface="Arial"/>
                <a:cs typeface="Arial"/>
              </a:defRPr>
            </a:pPr>
            <a:r>
              <a:rPr sz="2175" b="1">
                <a:solidFill>
                  <a:srgbClr val="123D61"/>
                </a:solidFill>
                <a:latin typeface="Arial"/>
                <a:ea typeface="Arial"/>
                <a:cs typeface="Arial"/>
              </a:rPr>
              <a:t>ở small và large</a:t>
            </a:r>
          </a:p>
        </p:txBody>
      </p:sp>
      <p:sp>
        <p:nvSpPr>
          <p:cNvPr id="14" name="Loader mới trong context của mỗi request">
            <a:extLst xmlns:a="http://schemas.openxmlformats.org/drawingml/2006/main">
              <a:ext uri="{FF2B5EF4-FFF2-40B4-BE49-F238E27FC236}">
                <a16:creationId xmlns:a16="http://schemas.microsoft.com/office/drawing/2014/main" id="{78BE2FD6-DB7F-448A-BF57-6BAAE37C3431}"/>
              </a:ext>
            </a:extLst>
          </p:cNvPr>
          <p:cNvSpPr>
            <a:spLocks xmlns:a="http://schemas.openxmlformats.org/drawingml/2006/main" noGrp="1"/>
          </p:cNvSpPr>
          <p:nvPr/>
        </p:nvSpPr>
        <p:spPr>
          <a:xfrm xmlns:a="http://schemas.openxmlformats.org/drawingml/2006/main">
            <a:off x="647700" y="5772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16979"/>
                </a:solidFill>
                <a:latin typeface="Arial"/>
                <a:ea typeface="Arial"/>
                <a:cs typeface="Arial"/>
              </a:defRPr>
            </a:defPPr>
          </a:lstStyle>
          <a:p xmlns:a="http://schemas.openxmlformats.org/drawingml/2006/main">
            <a:pPr>
              <a:defRPr sz="2100" b="0">
                <a:solidFill>
                  <a:srgbClr val="516979"/>
                </a:solidFill>
                <a:latin typeface="Arial"/>
                <a:ea typeface="Arial"/>
                <a:cs typeface="Arial"/>
              </a:defRPr>
            </a:pPr>
            <a:r>
              <a:rPr sz="2100" b="0">
                <a:solidFill>
                  <a:srgbClr val="516979"/>
                </a:solidFill>
                <a:latin typeface="Arial"/>
                <a:ea typeface="Arial"/>
                <a:cs typeface="Arial"/>
              </a:rPr>
              <a:t>Loader mới trong context của mỗi request</a:t>
            </a:r>
          </a:p>
        </p:txBody>
      </p:sp>
    </p:spTree>
    <p:extLst>
      <p:ext uri="{BB962C8B-B14F-4D97-AF65-F5344CB8AC3E}">
        <p14:creationId xmlns:p14="http://schemas.microsoft.com/office/powerpoint/2010/main" val="6677670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A2A5578-229E-4AC9-822D-01D1027F4602}"/>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Cách đo và điều kiện so sánh</a:t>
            </a:r>
          </a:p>
        </p:txBody>
      </p:sp>
      <p:sp>
        <p:nvSpPr>
          <p:cNvPr id="2" name="08">
            <a:extLst xmlns:a="http://schemas.openxmlformats.org/drawingml/2006/main">
              <a:ext uri="{FF2B5EF4-FFF2-40B4-BE49-F238E27FC236}">
                <a16:creationId xmlns:a16="http://schemas.microsoft.com/office/drawing/2014/main" id="{6B10802A-56B1-4987-A8A4-743C07D6E3A6}"/>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08</a:t>
            </a:r>
          </a:p>
        </p:txBody>
      </p:sp>
      <p:sp>
        <p:nvSpPr>
          <p:cNvPr id="3" name="Evidence">
            <a:extLst xmlns:a="http://schemas.openxmlformats.org/drawingml/2006/main">
              <a:ext uri="{FF2B5EF4-FFF2-40B4-BE49-F238E27FC236}">
                <a16:creationId xmlns:a16="http://schemas.microsoft.com/office/drawing/2014/main" id="{A3E297F2-424E-42B0-98F5-C354247629A5}"/>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Evidence</a:t>
            </a:r>
          </a:p>
        </p:txBody>
      </p:sp>
      <p:graphicFrame>
        <p:nvGraphicFramePr>
          <p:cNvPr id="4" name="">
            <a:extLst xmlns:a="http://schemas.openxmlformats.org/drawingml/2006/main">
              <a:ext uri="{FF2B5EF4-FFF2-40B4-BE49-F238E27FC236}">
                <a16:creationId xmlns:a16="http://schemas.microsoft.com/office/drawing/2014/main" id="{3F2CB7C7-758C-4222-B4BD-E6994CB7A8C4}"/>
              </a:ext>
            </a:extLst>
          </p:cNvPr>
          <p:cNvGraphicFramePr/>
          <p:nvPr/>
        </p:nvGraphicFramePr>
        <p:xfrm>
          <a:off xmlns:a="http://schemas.openxmlformats.org/drawingml/2006/main" x="647700" y="1724025"/>
          <a:ext xmlns:a="http://schemas.openxmlformats.org/drawingml/2006/main" cx="10839450" cy="3419475"/>
        </p:xfrm>
        <a:graphic xmlns:a="http://schemas.openxmlformats.org/drawingml/2006/main">
          <a:graphicData uri="http://schemas.openxmlformats.org/drawingml/2006/table">
            <a:tbl>
              <a:tblPr/>
              <a:tblGrid>
                <a:gridCol w="3143250"/>
                <a:gridCol w="7696200"/>
              </a:tblGrid>
              <a:tr h="569913">
                <a:tc>
                  <a:txBody>
                    <a:bodyPr/>
                    <a:lstStyle/>
                    <a:p>
                      <a:r>
                        <a:rPr sz="1875" b="1">
                          <a:solidFill>
                            <a:srgbClr val="FFFFFF"/>
                          </a:solidFill>
                          <a:latin typeface="Arial"/>
                          <a:ea typeface="Arial"/>
                          <a:cs typeface="Arial"/>
                        </a:rPr>
                        <a:t>Chỉ số</a:t>
                      </a:r>
                    </a:p>
                  </a:txBody>
                  <a:tcPr marL="114300" marR="114300" marT="95250" marB="76200" anchor="ctr">
                    <a:solidFill>
                      <a:srgbClr val="0869B1"/>
                    </a:solidFill>
                  </a:tcPr>
                </a:tc>
                <a:tc>
                  <a:txBody>
                    <a:bodyPr/>
                    <a:lstStyle/>
                    <a:p>
                      <a:r>
                        <a:rPr sz="1875" b="1">
                          <a:solidFill>
                            <a:srgbClr val="FFFFFF"/>
                          </a:solidFill>
                          <a:latin typeface="Arial"/>
                          <a:ea typeface="Arial"/>
                          <a:cs typeface="Arial"/>
                        </a:rPr>
                        <a:t>Định nghĩa</a:t>
                      </a:r>
                    </a:p>
                  </a:txBody>
                  <a:tcPr marL="114300" marR="114300" marT="95250" marB="76200" anchor="ctr">
                    <a:solidFill>
                      <a:srgbClr val="0869B1"/>
                    </a:solidFill>
                  </a:tcPr>
                </a:tc>
              </a:tr>
              <a:tr h="569913">
                <a:tc>
                  <a:txBody>
                    <a:bodyPr/>
                    <a:lstStyle/>
                    <a:p>
                      <a:r>
                        <a:rPr sz="1875">
                          <a:solidFill>
                            <a:srgbClr val="183448"/>
                          </a:solidFill>
                          <a:latin typeface="Arial"/>
                          <a:ea typeface="Arial"/>
                          <a:cs typeface="Arial"/>
                        </a:rPr>
                        <a:t>Client request</a:t>
                      </a:r>
                    </a:p>
                  </a:txBody>
                  <a:tcPr marL="114300" marR="114300" marT="95250" marB="76200" anchor="ctr">
                    <a:solidFill>
                      <a:srgbClr val="EDF6FC"/>
                    </a:solidFill>
                  </a:tcPr>
                </a:tc>
                <a:tc>
                  <a:txBody>
                    <a:bodyPr/>
                    <a:lstStyle/>
                    <a:p>
                      <a:r>
                        <a:rPr sz="1875">
                          <a:solidFill>
                            <a:srgbClr val="183448"/>
                          </a:solidFill>
                          <a:latin typeface="Arial"/>
                          <a:ea typeface="Arial"/>
                          <a:cs typeface="Arial"/>
                        </a:rPr>
                        <a:t>Fetch API từ browser</a:t>
                      </a:r>
                    </a:p>
                  </a:txBody>
                  <a:tcPr marL="114300" marR="114300" marT="95250" marB="76200" anchor="ctr">
                    <a:solidFill>
                      <a:srgbClr val="EDF6FC"/>
                    </a:solidFill>
                  </a:tcPr>
                </a:tc>
              </a:tr>
              <a:tr h="569913">
                <a:tc>
                  <a:txBody>
                    <a:bodyPr/>
                    <a:lstStyle/>
                    <a:p>
                      <a:r>
                        <a:rPr sz="1875">
                          <a:solidFill>
                            <a:srgbClr val="183448"/>
                          </a:solidFill>
                          <a:latin typeface="Arial"/>
                          <a:ea typeface="Arial"/>
                          <a:cs typeface="Arial"/>
                        </a:rPr>
                        <a:t>Service call</a:t>
                      </a:r>
                    </a:p>
                  </a:txBody>
                  <a:tcPr marL="114300" marR="114300" marT="95250" marB="76200" anchor="ctr">
                    <a:solidFill>
                      <a:srgbClr val="FFFFFF"/>
                    </a:solidFill>
                  </a:tcPr>
                </a:tc>
                <a:tc>
                  <a:txBody>
                    <a:bodyPr/>
                    <a:lstStyle/>
                    <a:p>
                      <a:r>
                        <a:rPr sz="1875">
                          <a:solidFill>
                            <a:srgbClr val="183448"/>
                          </a:solidFill>
                          <a:latin typeface="Arial"/>
                          <a:ea typeface="Arial"/>
                          <a:cs typeface="Arial"/>
                        </a:rPr>
                        <a:t>Request nghiệp vụ service nhận</a:t>
                      </a:r>
                    </a:p>
                  </a:txBody>
                  <a:tcPr marL="114300" marR="114300" marT="95250" marB="76200" anchor="ctr">
                    <a:solidFill>
                      <a:srgbClr val="FFFFFF"/>
                    </a:solidFill>
                  </a:tcPr>
                </a:tc>
              </a:tr>
              <a:tr h="569913">
                <a:tc>
                  <a:txBody>
                    <a:bodyPr/>
                    <a:lstStyle/>
                    <a:p>
                      <a:r>
                        <a:rPr sz="1875">
                          <a:solidFill>
                            <a:srgbClr val="183448"/>
                          </a:solidFill>
                          <a:latin typeface="Arial"/>
                          <a:ea typeface="Arial"/>
                          <a:cs typeface="Arial"/>
                        </a:rPr>
                        <a:t>DB query mô phỏng</a:t>
                      </a:r>
                    </a:p>
                  </a:txBody>
                  <a:tcPr marL="114300" marR="114300" marT="95250" marB="76200" anchor="ctr">
                    <a:solidFill>
                      <a:srgbClr val="EDF6FC"/>
                    </a:solidFill>
                  </a:tcPr>
                </a:tc>
                <a:tc>
                  <a:txBody>
                    <a:bodyPr/>
                    <a:lstStyle/>
                    <a:p>
                      <a:r>
                        <a:rPr sz="1875">
                          <a:solidFill>
                            <a:srgbClr val="183448"/>
                          </a:solidFill>
                          <a:latin typeface="Arial"/>
                          <a:ea typeface="Arial"/>
                          <a:cs typeface="Arial"/>
                        </a:rPr>
                        <a:t>Một lần gọi repository</a:t>
                      </a:r>
                    </a:p>
                  </a:txBody>
                  <a:tcPr marL="114300" marR="114300" marT="95250" marB="76200" anchor="ctr">
                    <a:solidFill>
                      <a:srgbClr val="EDF6FC"/>
                    </a:solidFill>
                  </a:tcPr>
                </a:tc>
              </a:tr>
              <a:tr h="569913">
                <a:tc>
                  <a:txBody>
                    <a:bodyPr/>
                    <a:lstStyle/>
                    <a:p>
                      <a:r>
                        <a:rPr sz="1875">
                          <a:solidFill>
                            <a:srgbClr val="183448"/>
                          </a:solidFill>
                          <a:latin typeface="Arial"/>
                          <a:ea typeface="Arial"/>
                          <a:cs typeface="Arial"/>
                        </a:rPr>
                        <a:t>Payload</a:t>
                      </a:r>
                    </a:p>
                  </a:txBody>
                  <a:tcPr marL="114300" marR="114300" marT="95250" marB="76200" anchor="ctr">
                    <a:solidFill>
                      <a:srgbClr val="FFFFFF"/>
                    </a:solidFill>
                  </a:tcPr>
                </a:tc>
                <a:tc>
                  <a:txBody>
                    <a:bodyPr/>
                    <a:lstStyle/>
                    <a:p>
                      <a:r>
                        <a:rPr sz="1875">
                          <a:solidFill>
                            <a:srgbClr val="183448"/>
                          </a:solidFill>
                          <a:latin typeface="Arial"/>
                          <a:ea typeface="Arial"/>
                          <a:cs typeface="Arial"/>
                        </a:rPr>
                        <a:t>Tổng encodedBodySize response API</a:t>
                      </a:r>
                    </a:p>
                  </a:txBody>
                  <a:tcPr marL="114300" marR="114300" marT="95250" marB="76200" anchor="ctr">
                    <a:solidFill>
                      <a:srgbClr val="FFFFFF"/>
                    </a:solidFill>
                  </a:tcPr>
                </a:tc>
              </a:tr>
              <a:tr h="569913">
                <a:tc>
                  <a:txBody>
                    <a:bodyPr/>
                    <a:lstStyle/>
                    <a:p>
                      <a:r>
                        <a:rPr sz="1875">
                          <a:solidFill>
                            <a:srgbClr val="183448"/>
                          </a:solidFill>
                          <a:latin typeface="Arial"/>
                          <a:ea typeface="Arial"/>
                          <a:cs typeface="Arial"/>
                        </a:rPr>
                        <a:t>Done</a:t>
                      </a:r>
                    </a:p>
                  </a:txBody>
                  <a:tcPr marL="114300" marR="114300" marT="95250" marB="76200" anchor="ctr">
                    <a:solidFill>
                      <a:srgbClr val="EDF6FC"/>
                    </a:solidFill>
                  </a:tcPr>
                </a:tc>
                <a:tc>
                  <a:txBody>
                    <a:bodyPr/>
                    <a:lstStyle/>
                    <a:p>
                      <a:r>
                        <a:rPr sz="1875">
                          <a:solidFill>
                            <a:srgbClr val="183448"/>
                          </a:solidFill>
                          <a:latin typeface="Arial"/>
                          <a:ea typeface="Arial"/>
                          <a:cs typeface="Arial"/>
                        </a:rPr>
                        <a:t>Render xong DOM từ navigation start</a:t>
                      </a:r>
                    </a:p>
                  </a:txBody>
                  <a:tcPr marL="114300" marR="114300" marT="95250" marB="76200" anchor="ctr">
                    <a:solidFill>
                      <a:srgbClr val="EDF6FC"/>
                    </a:solidFill>
                  </a:tcPr>
                </a:tc>
              </a:tr>
            </a:tbl>
          </a:graphicData>
        </a:graphic>
      </p:graphicFrame>
      <p:sp>
        <p:nvSpPr>
          <p:cNvPr id="5" name="8 cấu hình, 48 mẫu&#10;Mỗi cấu hình: 1 lạnh ">
            <a:extLst xmlns:a="http://schemas.openxmlformats.org/drawingml/2006/main">
              <a:ext uri="{FF2B5EF4-FFF2-40B4-BE49-F238E27FC236}">
                <a16:creationId xmlns:a16="http://schemas.microsoft.com/office/drawing/2014/main" id="{654614B5-AE49-47E6-ACBC-D0C9D30AA707}"/>
              </a:ext>
            </a:extLst>
          </p:cNvPr>
          <p:cNvSpPr>
            <a:spLocks xmlns:a="http://schemas.openxmlformats.org/drawingml/2006/main" noGrp="1"/>
          </p:cNvSpPr>
          <p:nvPr/>
        </p:nvSpPr>
        <p:spPr>
          <a:xfrm xmlns:a="http://schemas.openxmlformats.org/drawingml/2006/main">
            <a:off x="647700" y="5457825"/>
            <a:ext cx="1000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3D61"/>
                </a:solidFill>
                <a:latin typeface="Arial"/>
                <a:ea typeface="Arial"/>
                <a:cs typeface="Arial"/>
              </a:defRPr>
            </a:defPPr>
          </a:lstStyle>
          <a:p xmlns:a="http://schemas.openxmlformats.org/drawingml/2006/main">
            <a:pPr>
              <a:defRPr sz="2175" b="1">
                <a:solidFill>
                  <a:srgbClr val="123D61"/>
                </a:solidFill>
                <a:latin typeface="Arial"/>
                <a:ea typeface="Arial"/>
                <a:cs typeface="Arial"/>
              </a:defRPr>
            </a:pPr>
            <a:r>
              <a:rPr sz="2175" b="1">
                <a:solidFill>
                  <a:srgbClr val="123D61"/>
                </a:solidFill>
                <a:latin typeface="Arial"/>
                <a:ea typeface="Arial"/>
                <a:cs typeface="Arial"/>
              </a:rPr>
              <a:t>8 cấu hình, 48 mẫu</a:t>
            </a:r>
          </a:p>
          <a:p xmlns:a="http://schemas.openxmlformats.org/drawingml/2006/main">
            <a:pPr>
              <a:defRPr sz="2175" b="1">
                <a:solidFill>
                  <a:srgbClr val="123D61"/>
                </a:solidFill>
                <a:latin typeface="Arial"/>
                <a:ea typeface="Arial"/>
                <a:cs typeface="Arial"/>
              </a:defRPr>
            </a:pPr>
            <a:r>
              <a:rPr sz="2175" b="1">
                <a:solidFill>
                  <a:srgbClr val="123D61"/>
                </a:solidFill>
                <a:latin typeface="Arial"/>
                <a:ea typeface="Arial"/>
                <a:cs typeface="Arial"/>
              </a:rPr>
              <a:t>Mỗi cấu hình: 1 lạnh và 5 ấm</a:t>
            </a:r>
          </a:p>
        </p:txBody>
      </p:sp>
    </p:spTree>
    <p:extLst>
      <p:ext uri="{BB962C8B-B14F-4D97-AF65-F5344CB8AC3E}">
        <p14:creationId xmlns:p14="http://schemas.microsoft.com/office/powerpoint/2010/main" val="14186201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A3C33E7-462D-41DD-8296-E0355EF3F225}"/>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Thời gian hoàn tất với 200 đơn</a:t>
            </a:r>
          </a:p>
        </p:txBody>
      </p:sp>
      <p:sp>
        <p:nvSpPr>
          <p:cNvPr id="2" name="09">
            <a:extLst xmlns:a="http://schemas.openxmlformats.org/drawingml/2006/main">
              <a:ext uri="{FF2B5EF4-FFF2-40B4-BE49-F238E27FC236}">
                <a16:creationId xmlns:a16="http://schemas.microsoft.com/office/drawing/2014/main" id="{0E91C9B1-ED39-4E66-BB57-24722613ED36}"/>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09</a:t>
            </a:r>
          </a:p>
        </p:txBody>
      </p:sp>
      <p:sp>
        <p:nvSpPr>
          <p:cNvPr id="3" name="Evidence">
            <a:extLst xmlns:a="http://schemas.openxmlformats.org/drawingml/2006/main">
              <a:ext uri="{FF2B5EF4-FFF2-40B4-BE49-F238E27FC236}">
                <a16:creationId xmlns:a16="http://schemas.microsoft.com/office/drawing/2014/main" id="{FEA943A6-5CCD-4A88-ABE1-23C10BB46213}"/>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Evidence</a:t>
            </a:r>
          </a:p>
        </p:txBody>
      </p:sp>
      <p:sp>
        <p:nvSpPr>
          <p:cNvPr id="4" name="Median của 5 lần ấm, đơn vị ms">
            <a:extLst xmlns:a="http://schemas.openxmlformats.org/drawingml/2006/main">
              <a:ext uri="{FF2B5EF4-FFF2-40B4-BE49-F238E27FC236}">
                <a16:creationId xmlns:a16="http://schemas.microsoft.com/office/drawing/2014/main" id="{E8A3D660-A3E4-4ACB-8D6D-A21423F9C9EC}"/>
              </a:ext>
            </a:extLst>
          </p:cNvPr>
          <p:cNvSpPr>
            <a:spLocks xmlns:a="http://schemas.openxmlformats.org/drawingml/2006/main" noGrp="1"/>
          </p:cNvSpPr>
          <p:nvPr/>
        </p:nvSpPr>
        <p:spPr>
          <a:xfrm xmlns:a="http://schemas.openxmlformats.org/drawingml/2006/main">
            <a:off x="647700" y="1428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16979"/>
                </a:solidFill>
                <a:latin typeface="Arial"/>
                <a:ea typeface="Arial"/>
                <a:cs typeface="Arial"/>
              </a:defRPr>
            </a:defPPr>
          </a:lstStyle>
          <a:p xmlns:a="http://schemas.openxmlformats.org/drawingml/2006/main">
            <a:pPr>
              <a:defRPr sz="2100" b="0">
                <a:solidFill>
                  <a:srgbClr val="516979"/>
                </a:solidFill>
                <a:latin typeface="Arial"/>
                <a:ea typeface="Arial"/>
                <a:cs typeface="Arial"/>
              </a:defRPr>
            </a:pPr>
            <a:r>
              <a:rPr sz="2100" b="0">
                <a:solidFill>
                  <a:srgbClr val="516979"/>
                </a:solidFill>
                <a:latin typeface="Arial"/>
                <a:ea typeface="Arial"/>
                <a:cs typeface="Arial"/>
              </a:rPr>
              <a:t>Median của 5 lần ấm, đơn vị ms</a:t>
            </a:r>
          </a:p>
        </p:txBody>
      </p:sp>
      <p:pic>
        <p:nvPicPr>
          <p:cNvPr id="5" name="">
            <a:extLst xmlns:a="http://schemas.openxmlformats.org/drawingml/2006/main">
              <a:ext uri="{FF2B5EF4-FFF2-40B4-BE49-F238E27FC236}">
                <a16:creationId xmlns:a16="http://schemas.microsoft.com/office/drawing/2014/main" id="{EBD9C4EF-98BA-4CDF-900E-D2DED4AAB98B}"/>
              </a:ext>
            </a:extLst>
          </p:cNvPr>
          <p:cNvPicPr>
            <a:picLocks xmlns:a="http://schemas.openxmlformats.org/drawingml/2006/main" noChangeAspect="1"/>
          </p:cNvPicPr>
          <p:nvPr/>
        </p:nvPicPr>
        <p:blipFill>
          <a:blip xmlns:r="http://schemas.openxmlformats.org/officeDocument/2006/relationships" xmlns:a="http://schemas.openxmlformats.org/drawingml/2006/main" r:embed="Re806286358d74d6e"/>
          <a:stretch xmlns:a="http://schemas.openxmlformats.org/drawingml/2006/main"/>
        </p:blipFill>
        <p:spPr>
          <a:xfrm xmlns:a="http://schemas.openxmlformats.org/drawingml/2006/main">
            <a:off x="647700" y="2047875"/>
            <a:ext cx="10668000" cy="3362325"/>
          </a:xfrm>
          <a:prstGeom xmlns:a="http://schemas.openxmlformats.org/drawingml/2006/main" prst="rect">
            <a:avLst/>
          </a:prstGeom>
        </p:spPr>
      </p:pic>
      <p:sp>
        <p:nvSpPr>
          <p:cNvPr id="6" name="Product calls: 200 ở baseline/naive, 1 ở">
            <a:extLst xmlns:a="http://schemas.openxmlformats.org/drawingml/2006/main">
              <a:ext uri="{FF2B5EF4-FFF2-40B4-BE49-F238E27FC236}">
                <a16:creationId xmlns:a16="http://schemas.microsoft.com/office/drawing/2014/main" id="{F7CD35F7-DF04-40AE-82AF-2247495EE0A8}"/>
              </a:ext>
            </a:extLst>
          </p:cNvPr>
          <p:cNvSpPr>
            <a:spLocks xmlns:a="http://schemas.openxmlformats.org/drawingml/2006/main" noGrp="1"/>
          </p:cNvSpPr>
          <p:nvPr/>
        </p:nvSpPr>
        <p:spPr>
          <a:xfrm xmlns:a="http://schemas.openxmlformats.org/drawingml/2006/main">
            <a:off x="647700" y="56388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3D61"/>
                </a:solidFill>
                <a:latin typeface="Arial"/>
                <a:ea typeface="Arial"/>
                <a:cs typeface="Arial"/>
              </a:defRPr>
            </a:defPPr>
          </a:lstStyle>
          <a:p xmlns:a="http://schemas.openxmlformats.org/drawingml/2006/main">
            <a:pPr>
              <a:defRPr sz="2100" b="1">
                <a:solidFill>
                  <a:srgbClr val="123D61"/>
                </a:solidFill>
                <a:latin typeface="Arial"/>
                <a:ea typeface="Arial"/>
                <a:cs typeface="Arial"/>
              </a:defRPr>
            </a:pPr>
            <a:r>
              <a:rPr sz="2100" b="1">
                <a:solidFill>
                  <a:srgbClr val="123D61"/>
                </a:solidFill>
                <a:latin typeface="Arial"/>
                <a:ea typeface="Arial"/>
                <a:cs typeface="Arial"/>
              </a:rPr>
              <a:t>Product calls: 200 ở baseline/naive, 1 ở BFF/loader</a:t>
            </a:r>
          </a:p>
        </p:txBody>
      </p:sp>
      <p:sp>
        <p:nvSpPr>
          <p:cNvPr id="7" name="Nguồn: results/raw.csv và summary.md, Ed">
            <a:extLst xmlns:a="http://schemas.openxmlformats.org/drawingml/2006/main">
              <a:ext uri="{FF2B5EF4-FFF2-40B4-BE49-F238E27FC236}">
                <a16:creationId xmlns:a16="http://schemas.microsoft.com/office/drawing/2014/main" id="{BE6F1049-0700-4B0C-BBD8-E717A227BB0E}"/>
              </a:ext>
            </a:extLst>
          </p:cNvPr>
          <p:cNvSpPr>
            <a:spLocks xmlns:a="http://schemas.openxmlformats.org/drawingml/2006/main" noGrp="1"/>
          </p:cNvSpPr>
          <p:nvPr/>
        </p:nvSpPr>
        <p:spPr>
          <a:xfrm xmlns:a="http://schemas.openxmlformats.org/drawingml/2006/main">
            <a:off x="647700" y="6096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979"/>
                </a:solidFill>
                <a:latin typeface="Arial"/>
                <a:ea typeface="Arial"/>
                <a:cs typeface="Arial"/>
              </a:defRPr>
            </a:defPPr>
          </a:lstStyle>
          <a:p xmlns:a="http://schemas.openxmlformats.org/drawingml/2006/main">
            <a:pPr>
              <a:defRPr sz="1425" b="0">
                <a:solidFill>
                  <a:srgbClr val="516979"/>
                </a:solidFill>
                <a:latin typeface="Arial"/>
                <a:ea typeface="Arial"/>
                <a:cs typeface="Arial"/>
              </a:defRPr>
            </a:pPr>
            <a:r>
              <a:rPr sz="1425" b="0">
                <a:solidFill>
                  <a:srgbClr val="516979"/>
                </a:solidFill>
                <a:latin typeface="Arial"/>
                <a:ea typeface="Arial"/>
                <a:cs typeface="Arial"/>
              </a:rPr>
              <a:t>Nguồn: results/raw.csv và summary.md, Edge trên localhost</a:t>
            </a:r>
          </a:p>
        </p:txBody>
      </p:sp>
    </p:spTree>
    <p:extLst>
      <p:ext uri="{BB962C8B-B14F-4D97-AF65-F5344CB8AC3E}">
        <p14:creationId xmlns:p14="http://schemas.microsoft.com/office/powerpoint/2010/main" val="3665717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F9CFD95-AF7B-4B5A-A882-5A6AC4463563}"/>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Product lỗi: giữ đơn và đánh dấu thiếu</a:t>
            </a:r>
          </a:p>
        </p:txBody>
      </p:sp>
      <p:sp>
        <p:nvSpPr>
          <p:cNvPr id="2" name="10">
            <a:extLst xmlns:a="http://schemas.openxmlformats.org/drawingml/2006/main">
              <a:ext uri="{FF2B5EF4-FFF2-40B4-BE49-F238E27FC236}">
                <a16:creationId xmlns:a16="http://schemas.microsoft.com/office/drawing/2014/main" id="{D5006653-E776-456D-97A7-A71CAB78993A}"/>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10</a:t>
            </a:r>
          </a:p>
        </p:txBody>
      </p:sp>
      <p:sp>
        <p:nvSpPr>
          <p:cNvPr id="3" name="Evidence">
            <a:extLst xmlns:a="http://schemas.openxmlformats.org/drawingml/2006/main">
              <a:ext uri="{FF2B5EF4-FFF2-40B4-BE49-F238E27FC236}">
                <a16:creationId xmlns:a16="http://schemas.microsoft.com/office/drawing/2014/main" id="{5E0FB605-707B-4DF4-8FF1-01F7449B3E3D}"/>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Evidence</a:t>
            </a:r>
          </a:p>
        </p:txBody>
      </p:sp>
      <p:sp>
        <p:nvSpPr>
          <p:cNvPr id="4" name="product: null&#10;errors: path tới từng đơn">
            <a:extLst xmlns:a="http://schemas.openxmlformats.org/drawingml/2006/main">
              <a:ext uri="{FF2B5EF4-FFF2-40B4-BE49-F238E27FC236}">
                <a16:creationId xmlns:a16="http://schemas.microsoft.com/office/drawing/2014/main" id="{7B290AA2-CCFC-47C8-AB0D-D227249616D1}"/>
              </a:ext>
            </a:extLst>
          </p:cNvPr>
          <p:cNvSpPr>
            <a:spLocks xmlns:a="http://schemas.openxmlformats.org/drawingml/2006/main" noGrp="1"/>
          </p:cNvSpPr>
          <p:nvPr/>
        </p:nvSpPr>
        <p:spPr>
          <a:xfrm xmlns:a="http://schemas.openxmlformats.org/drawingml/2006/main">
            <a:off x="647700" y="1847850"/>
            <a:ext cx="5619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23D61"/>
                </a:solidFill>
                <a:latin typeface="Arial"/>
                <a:ea typeface="Arial"/>
                <a:cs typeface="Arial"/>
              </a:defRPr>
            </a:defPPr>
          </a:lstStyle>
          <a:p xmlns:a="http://schemas.openxmlformats.org/drawingml/2006/main">
            <a:pPr>
              <a:defRPr sz="2475" b="1">
                <a:solidFill>
                  <a:srgbClr val="123D61"/>
                </a:solidFill>
                <a:latin typeface="Arial"/>
                <a:ea typeface="Arial"/>
                <a:cs typeface="Arial"/>
              </a:defRPr>
            </a:pPr>
            <a:r>
              <a:rPr sz="2475" b="1">
                <a:solidFill>
                  <a:srgbClr val="123D61"/>
                </a:solidFill>
                <a:latin typeface="Arial"/>
                <a:ea typeface="Arial"/>
                <a:cs typeface="Arial"/>
              </a:rPr>
              <a:t>product: null</a:t>
            </a:r>
          </a:p>
          <a:p xmlns:a="http://schemas.openxmlformats.org/drawingml/2006/main">
            <a:pPr>
              <a:defRPr sz="2475" b="1">
                <a:solidFill>
                  <a:srgbClr val="123D61"/>
                </a:solidFill>
                <a:latin typeface="Arial"/>
                <a:ea typeface="Arial"/>
                <a:cs typeface="Arial"/>
              </a:defRPr>
            </a:pPr>
            <a:r>
              <a:rPr sz="2475" b="1">
                <a:solidFill>
                  <a:srgbClr val="123D61"/>
                </a:solidFill>
                <a:latin typeface="Arial"/>
                <a:ea typeface="Arial"/>
                <a:cs typeface="Arial"/>
              </a:rPr>
              <a:t>errors: path tới từng đơn</a:t>
            </a:r>
          </a:p>
        </p:txBody>
      </p:sp>
      <p:sp>
        <p:nvSpPr>
          <p:cNvPr id="5" name="Timeout Product 1000 ms&#10;Đơn giá vẫn lấy ">
            <a:extLst xmlns:a="http://schemas.openxmlformats.org/drawingml/2006/main">
              <a:ext uri="{FF2B5EF4-FFF2-40B4-BE49-F238E27FC236}">
                <a16:creationId xmlns:a16="http://schemas.microsoft.com/office/drawing/2014/main" id="{733F6F06-C86E-4352-A428-D532530BCCE2}"/>
              </a:ext>
            </a:extLst>
          </p:cNvPr>
          <p:cNvSpPr>
            <a:spLocks xmlns:a="http://schemas.openxmlformats.org/drawingml/2006/main" noGrp="1"/>
          </p:cNvSpPr>
          <p:nvPr/>
        </p:nvSpPr>
        <p:spPr>
          <a:xfrm xmlns:a="http://schemas.openxmlformats.org/drawingml/2006/main">
            <a:off x="647700" y="3495675"/>
            <a:ext cx="5286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448"/>
                </a:solidFill>
                <a:latin typeface="Arial"/>
                <a:ea typeface="Arial"/>
                <a:cs typeface="Arial"/>
              </a:defRPr>
            </a:defPPr>
          </a:lstStyle>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Timeout Product 1000 ms</a:t>
            </a:r>
          </a:p>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Đơn giá vẫn lấy từ Order</a:t>
            </a:r>
          </a:p>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Tên product hiển thị cảnh báo</a:t>
            </a:r>
          </a:p>
        </p:txBody>
      </p:sp>
      <p:pic>
        <p:nvPicPr>
          <p:cNvPr id="6" name="">
            <a:extLst xmlns:a="http://schemas.openxmlformats.org/drawingml/2006/main">
              <a:ext uri="{FF2B5EF4-FFF2-40B4-BE49-F238E27FC236}">
                <a16:creationId xmlns:a16="http://schemas.microsoft.com/office/drawing/2014/main" id="{7531ABFB-187E-49D3-9141-1EB1A9FE3A94}"/>
              </a:ext>
            </a:extLst>
          </p:cNvPr>
          <p:cNvPicPr>
            <a:picLocks xmlns:a="http://schemas.openxmlformats.org/drawingml/2006/main" noChangeAspect="1"/>
          </p:cNvPicPr>
          <p:nvPr/>
        </p:nvPicPr>
        <p:blipFill>
          <a:blip xmlns:r="http://schemas.openxmlformats.org/officeDocument/2006/relationships" xmlns:a="http://schemas.openxmlformats.org/drawingml/2006/main" r:embed="R6a77c2613004447d"/>
          <a:stretch xmlns:a="http://schemas.openxmlformats.org/drawingml/2006/main"/>
        </p:blipFill>
        <p:spPr>
          <a:xfrm xmlns:a="http://schemas.openxmlformats.org/drawingml/2006/main">
            <a:off x="6219825" y="2410936"/>
            <a:ext cx="5267325" cy="1931353"/>
          </a:xfrm>
          <a:prstGeom xmlns:a="http://schemas.openxmlformats.org/drawingml/2006/main" prst="rect">
            <a:avLst/>
          </a:prstGeom>
        </p:spPr>
      </p:pic>
      <p:sp>
        <p:nvSpPr>
          <p:cNvPr id="7" name="Partial phù hợp cho dashboard đọc">
            <a:extLst xmlns:a="http://schemas.openxmlformats.org/drawingml/2006/main">
              <a:ext uri="{FF2B5EF4-FFF2-40B4-BE49-F238E27FC236}">
                <a16:creationId xmlns:a16="http://schemas.microsoft.com/office/drawing/2014/main" id="{F1AB72CB-2C22-4B51-A8BD-0583E3EEA6DB}"/>
              </a:ext>
            </a:extLst>
          </p:cNvPr>
          <p:cNvSpPr>
            <a:spLocks xmlns:a="http://schemas.openxmlformats.org/drawingml/2006/main" noGrp="1"/>
          </p:cNvSpPr>
          <p:nvPr/>
        </p:nvSpPr>
        <p:spPr>
          <a:xfrm xmlns:a="http://schemas.openxmlformats.org/drawingml/2006/main">
            <a:off x="647700" y="5657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69B1"/>
                </a:solidFill>
                <a:latin typeface="Arial"/>
                <a:ea typeface="Arial"/>
                <a:cs typeface="Arial"/>
              </a:defRPr>
            </a:defPPr>
          </a:lstStyle>
          <a:p xmlns:a="http://schemas.openxmlformats.org/drawingml/2006/main">
            <a:pPr>
              <a:defRPr sz="2325" b="1">
                <a:solidFill>
                  <a:srgbClr val="0869B1"/>
                </a:solidFill>
                <a:latin typeface="Arial"/>
                <a:ea typeface="Arial"/>
                <a:cs typeface="Arial"/>
              </a:defRPr>
            </a:pPr>
            <a:r>
              <a:rPr sz="2325" b="1">
                <a:solidFill>
                  <a:srgbClr val="0869B1"/>
                </a:solidFill>
                <a:latin typeface="Arial"/>
                <a:ea typeface="Arial"/>
                <a:cs typeface="Arial"/>
              </a:rPr>
              <a:t>Partial phù hợp cho dashboard đọc</a:t>
            </a:r>
          </a:p>
        </p:txBody>
      </p:sp>
    </p:spTree>
    <p:extLst>
      <p:ext uri="{BB962C8B-B14F-4D97-AF65-F5344CB8AC3E}">
        <p14:creationId xmlns:p14="http://schemas.microsoft.com/office/powerpoint/2010/main" val="5559231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012F2C8-64F4-4B70-B82C-2EFE340427FB}"/>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Demo trực tiếp trên dữ liệu nhỏ</a:t>
            </a:r>
          </a:p>
        </p:txBody>
      </p:sp>
      <p:sp>
        <p:nvSpPr>
          <p:cNvPr id="2" name="11">
            <a:extLst xmlns:a="http://schemas.openxmlformats.org/drawingml/2006/main">
              <a:ext uri="{FF2B5EF4-FFF2-40B4-BE49-F238E27FC236}">
                <a16:creationId xmlns:a16="http://schemas.microsoft.com/office/drawing/2014/main" id="{A2DBA6B2-9575-4DB0-BBB2-A2F843E19311}"/>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11</a:t>
            </a:r>
          </a:p>
        </p:txBody>
      </p:sp>
      <p:sp>
        <p:nvSpPr>
          <p:cNvPr id="3" name="Demo">
            <a:extLst xmlns:a="http://schemas.openxmlformats.org/drawingml/2006/main">
              <a:ext uri="{FF2B5EF4-FFF2-40B4-BE49-F238E27FC236}">
                <a16:creationId xmlns:a16="http://schemas.microsoft.com/office/drawing/2014/main" id="{AB2AA7D6-4A28-4BA6-890E-4E35A0A1307D}"/>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Demo</a:t>
            </a:r>
          </a:p>
        </p:txBody>
      </p:sp>
      <p:sp>
        <p:nvSpPr>
          <p:cNvPr id="4" name="01">
            <a:extLst xmlns:a="http://schemas.openxmlformats.org/drawingml/2006/main">
              <a:ext uri="{FF2B5EF4-FFF2-40B4-BE49-F238E27FC236}">
                <a16:creationId xmlns:a16="http://schemas.microsoft.com/office/drawing/2014/main" id="{CAF52B44-7358-4C31-99ED-BE8CAC570B5F}"/>
              </a:ext>
            </a:extLst>
          </p:cNvPr>
          <p:cNvSpPr>
            <a:spLocks xmlns:a="http://schemas.openxmlformats.org/drawingml/2006/main" noGrp="1"/>
          </p:cNvSpPr>
          <p:nvPr/>
        </p:nvSpPr>
        <p:spPr>
          <a:xfrm xmlns:a="http://schemas.openxmlformats.org/drawingml/2006/main">
            <a:off x="647700" y="18002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01</a:t>
            </a:r>
          </a:p>
        </p:txBody>
      </p:sp>
      <p:sp>
        <p:nvSpPr>
          <p:cNvPr id="5" name="Baseline: xem 5 đơn và các request tuần ">
            <a:extLst xmlns:a="http://schemas.openxmlformats.org/drawingml/2006/main">
              <a:ext uri="{FF2B5EF4-FFF2-40B4-BE49-F238E27FC236}">
                <a16:creationId xmlns:a16="http://schemas.microsoft.com/office/drawing/2014/main" id="{581C5E33-A5E7-4B9D-9173-9D259AB281D2}"/>
              </a:ext>
            </a:extLst>
          </p:cNvPr>
          <p:cNvSpPr>
            <a:spLocks xmlns:a="http://schemas.openxmlformats.org/drawingml/2006/main" noGrp="1"/>
          </p:cNvSpPr>
          <p:nvPr/>
        </p:nvSpPr>
        <p:spPr>
          <a:xfrm xmlns:a="http://schemas.openxmlformats.org/drawingml/2006/main">
            <a:off x="1428750" y="1800225"/>
            <a:ext cx="979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Baseline: xem 5 đơn và các request tuần tự</a:t>
            </a:r>
          </a:p>
        </p:txBody>
      </p:sp>
      <p:sp>
        <p:nvSpPr>
          <p:cNvPr id="6" name="02">
            <a:extLst xmlns:a="http://schemas.openxmlformats.org/drawingml/2006/main">
              <a:ext uri="{FF2B5EF4-FFF2-40B4-BE49-F238E27FC236}">
                <a16:creationId xmlns:a16="http://schemas.microsoft.com/office/drawing/2014/main" id="{76DCFBBE-62C9-4897-B110-D491F8651207}"/>
              </a:ext>
            </a:extLst>
          </p:cNvPr>
          <p:cNvSpPr>
            <a:spLocks xmlns:a="http://schemas.openxmlformats.org/drawingml/2006/main" noGrp="1"/>
          </p:cNvSpPr>
          <p:nvPr/>
        </p:nvSpPr>
        <p:spPr>
          <a:xfrm xmlns:a="http://schemas.openxmlformats.org/drawingml/2006/main">
            <a:off x="647700" y="26860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02</a:t>
            </a:r>
          </a:p>
        </p:txBody>
      </p:sp>
      <p:sp>
        <p:nvSpPr>
          <p:cNvPr id="7" name="BFF: 1 request, Product nhận một batch">
            <a:extLst xmlns:a="http://schemas.openxmlformats.org/drawingml/2006/main">
              <a:ext uri="{FF2B5EF4-FFF2-40B4-BE49-F238E27FC236}">
                <a16:creationId xmlns:a16="http://schemas.microsoft.com/office/drawing/2014/main" id="{68603F0B-DB6B-4A5E-A6F1-55DFA9554F5F}"/>
              </a:ext>
            </a:extLst>
          </p:cNvPr>
          <p:cNvSpPr>
            <a:spLocks xmlns:a="http://schemas.openxmlformats.org/drawingml/2006/main" noGrp="1"/>
          </p:cNvSpPr>
          <p:nvPr/>
        </p:nvSpPr>
        <p:spPr>
          <a:xfrm xmlns:a="http://schemas.openxmlformats.org/drawingml/2006/main">
            <a:off x="1428750" y="2686050"/>
            <a:ext cx="979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BFF: 1 request, Product nhận một batch</a:t>
            </a:r>
          </a:p>
        </p:txBody>
      </p:sp>
      <p:sp>
        <p:nvSpPr>
          <p:cNvPr id="8" name="03">
            <a:extLst xmlns:a="http://schemas.openxmlformats.org/drawingml/2006/main">
              <a:ext uri="{FF2B5EF4-FFF2-40B4-BE49-F238E27FC236}">
                <a16:creationId xmlns:a16="http://schemas.microsoft.com/office/drawing/2014/main" id="{63D82894-1EF0-484A-A869-4A4BB60BBD09}"/>
              </a:ext>
            </a:extLst>
          </p:cNvPr>
          <p:cNvSpPr>
            <a:spLocks xmlns:a="http://schemas.openxmlformats.org/drawingml/2006/main" noGrp="1"/>
          </p:cNvSpPr>
          <p:nvPr/>
        </p:nvSpPr>
        <p:spPr>
          <a:xfrm xmlns:a="http://schemas.openxmlformats.org/drawingml/2006/main">
            <a:off x="647700" y="3571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03</a:t>
            </a:r>
          </a:p>
        </p:txBody>
      </p:sp>
      <p:sp>
        <p:nvSpPr>
          <p:cNvPr id="9" name="GraphQL: đổi naive và loader để xem N+1">
            <a:extLst xmlns:a="http://schemas.openxmlformats.org/drawingml/2006/main">
              <a:ext uri="{FF2B5EF4-FFF2-40B4-BE49-F238E27FC236}">
                <a16:creationId xmlns:a16="http://schemas.microsoft.com/office/drawing/2014/main" id="{3BCCA6D9-C114-4856-A67E-86CA77568A12}"/>
              </a:ext>
            </a:extLst>
          </p:cNvPr>
          <p:cNvSpPr>
            <a:spLocks xmlns:a="http://schemas.openxmlformats.org/drawingml/2006/main" noGrp="1"/>
          </p:cNvSpPr>
          <p:nvPr/>
        </p:nvSpPr>
        <p:spPr>
          <a:xfrm xmlns:a="http://schemas.openxmlformats.org/drawingml/2006/main">
            <a:off x="1428750" y="3571875"/>
            <a:ext cx="979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GraphQL: đổi naive và loader để xem N+1</a:t>
            </a:r>
          </a:p>
        </p:txBody>
      </p:sp>
      <p:sp>
        <p:nvSpPr>
          <p:cNvPr id="10" name="04">
            <a:extLst xmlns:a="http://schemas.openxmlformats.org/drawingml/2006/main">
              <a:ext uri="{FF2B5EF4-FFF2-40B4-BE49-F238E27FC236}">
                <a16:creationId xmlns:a16="http://schemas.microsoft.com/office/drawing/2014/main" id="{D6FE7987-2A8F-4DA4-AF13-9803793B8B8B}"/>
              </a:ext>
            </a:extLst>
          </p:cNvPr>
          <p:cNvSpPr>
            <a:spLocks xmlns:a="http://schemas.openxmlformats.org/drawingml/2006/main" noGrp="1"/>
          </p:cNvSpPr>
          <p:nvPr/>
        </p:nvSpPr>
        <p:spPr>
          <a:xfrm xmlns:a="http://schemas.openxmlformats.org/drawingml/2006/main">
            <a:off x="647700" y="44577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04</a:t>
            </a:r>
          </a:p>
        </p:txBody>
      </p:sp>
      <p:sp>
        <p:nvSpPr>
          <p:cNvPr id="11" name="Product lỗi: đơn còn, product null và có">
            <a:extLst xmlns:a="http://schemas.openxmlformats.org/drawingml/2006/main">
              <a:ext uri="{FF2B5EF4-FFF2-40B4-BE49-F238E27FC236}">
                <a16:creationId xmlns:a16="http://schemas.microsoft.com/office/drawing/2014/main" id="{DA95E2EC-B1F8-4D52-AFE6-0743F8D6A1E6}"/>
              </a:ext>
            </a:extLst>
          </p:cNvPr>
          <p:cNvSpPr>
            <a:spLocks xmlns:a="http://schemas.openxmlformats.org/drawingml/2006/main" noGrp="1"/>
          </p:cNvSpPr>
          <p:nvPr/>
        </p:nvSpPr>
        <p:spPr>
          <a:xfrm xmlns:a="http://schemas.openxmlformats.org/drawingml/2006/main">
            <a:off x="1428750" y="4457700"/>
            <a:ext cx="979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Product lỗi: đơn còn, product null và có lỗi</a:t>
            </a:r>
          </a:p>
        </p:txBody>
      </p:sp>
      <p:sp>
        <p:nvSpPr>
          <p:cNvPr id="12" name="http://localhost:4000/">
            <a:extLst xmlns:a="http://schemas.openxmlformats.org/drawingml/2006/main">
              <a:ext uri="{FF2B5EF4-FFF2-40B4-BE49-F238E27FC236}">
                <a16:creationId xmlns:a16="http://schemas.microsoft.com/office/drawing/2014/main" id="{5B4BE60C-1EDC-47E1-9BA8-08F26E648E71}"/>
              </a:ext>
            </a:extLst>
          </p:cNvPr>
          <p:cNvSpPr>
            <a:spLocks xmlns:a="http://schemas.openxmlformats.org/drawingml/2006/main" noGrp="1"/>
          </p:cNvSpPr>
          <p:nvPr/>
        </p:nvSpPr>
        <p:spPr>
          <a:xfrm xmlns:a="http://schemas.openxmlformats.org/drawingml/2006/main">
            <a:off x="1428750" y="5657850"/>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69B1"/>
                </a:solidFill>
                <a:latin typeface="Arial"/>
                <a:ea typeface="Arial"/>
                <a:cs typeface="Arial"/>
              </a:defRPr>
            </a:defPPr>
          </a:lstStyle>
          <a:p xmlns:a="http://schemas.openxmlformats.org/drawingml/2006/main">
            <a:pPr>
              <a:defRPr sz="2250" b="1">
                <a:solidFill>
                  <a:srgbClr val="0869B1"/>
                </a:solidFill>
                <a:latin typeface="Arial"/>
                <a:ea typeface="Arial"/>
                <a:cs typeface="Arial"/>
              </a:defRPr>
            </a:pPr>
            <a:r>
              <a:rPr sz="2250" b="1">
                <a:solidFill>
                  <a:srgbClr val="0869B1"/>
                </a:solidFill>
                <a:latin typeface="Arial"/>
                <a:ea typeface="Arial"/>
                <a:cs typeface="Arial"/>
                <a:hlinkClick xmlns:r="http://schemas.openxmlformats.org/officeDocument/2006/relationships" r:id="R879512a3b9354d0e"/>
              </a:rPr>
              <a:t>http://localhost:4000/</a:t>
            </a:r>
          </a:p>
        </p:txBody>
      </p:sp>
    </p:spTree>
    <p:extLst>
      <p:ext uri="{BB962C8B-B14F-4D97-AF65-F5344CB8AC3E}">
        <p14:creationId xmlns:p14="http://schemas.microsoft.com/office/powerpoint/2010/main" val="18929857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1099EDA-05BD-4B2F-BA09-4A7645B57D24}"/>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Lựa chọn phụ thuộc nhu cầu client</a:t>
            </a:r>
          </a:p>
        </p:txBody>
      </p:sp>
      <p:sp>
        <p:nvSpPr>
          <p:cNvPr id="2" name="12">
            <a:extLst xmlns:a="http://schemas.openxmlformats.org/drawingml/2006/main">
              <a:ext uri="{FF2B5EF4-FFF2-40B4-BE49-F238E27FC236}">
                <a16:creationId xmlns:a16="http://schemas.microsoft.com/office/drawing/2014/main" id="{E0031052-4989-4CB9-9049-AE9C10E6A608}"/>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12</a:t>
            </a:r>
          </a:p>
        </p:txBody>
      </p:sp>
      <p:sp>
        <p:nvSpPr>
          <p:cNvPr id="3" name="Trade-off">
            <a:extLst xmlns:a="http://schemas.openxmlformats.org/drawingml/2006/main">
              <a:ext uri="{FF2B5EF4-FFF2-40B4-BE49-F238E27FC236}">
                <a16:creationId xmlns:a16="http://schemas.microsoft.com/office/drawing/2014/main" id="{71B74B74-D4C3-43C0-941D-0DD208A60885}"/>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Trade-off</a:t>
            </a:r>
          </a:p>
        </p:txBody>
      </p:sp>
      <p:sp>
        <p:nvSpPr>
          <p:cNvPr id="4" name="BFF">
            <a:extLst xmlns:a="http://schemas.openxmlformats.org/drawingml/2006/main">
              <a:ext uri="{FF2B5EF4-FFF2-40B4-BE49-F238E27FC236}">
                <a16:creationId xmlns:a16="http://schemas.microsoft.com/office/drawing/2014/main" id="{9AC65940-2162-4CB7-89C7-6BF26167C8C5}"/>
              </a:ext>
            </a:extLst>
          </p:cNvPr>
          <p:cNvSpPr>
            <a:spLocks xmlns:a="http://schemas.openxmlformats.org/drawingml/2006/main" noGrp="1"/>
          </p:cNvSpPr>
          <p:nvPr/>
        </p:nvSpPr>
        <p:spPr>
          <a:xfrm xmlns:a="http://schemas.openxmlformats.org/drawingml/2006/main">
            <a:off x="647700" y="18478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869B1"/>
                </a:solidFill>
                <a:latin typeface="Arial"/>
                <a:ea typeface="Arial"/>
                <a:cs typeface="Arial"/>
              </a:defRPr>
            </a:defPPr>
          </a:lstStyle>
          <a:p xmlns:a="http://schemas.openxmlformats.org/drawingml/2006/main">
            <a:pPr>
              <a:defRPr sz="3000" b="1">
                <a:solidFill>
                  <a:srgbClr val="0869B1"/>
                </a:solidFill>
                <a:latin typeface="Arial"/>
                <a:ea typeface="Arial"/>
                <a:cs typeface="Arial"/>
              </a:defRPr>
            </a:pPr>
            <a:r>
              <a:rPr sz="3000" b="1">
                <a:solidFill>
                  <a:srgbClr val="0869B1"/>
                </a:solidFill>
                <a:latin typeface="Arial"/>
                <a:ea typeface="Arial"/>
                <a:cs typeface="Arial"/>
              </a:rPr>
              <a:t>BFF</a:t>
            </a:r>
          </a:p>
        </p:txBody>
      </p:sp>
      <p:sp>
        <p:nvSpPr>
          <p:cNvPr id="5" name="Màn hình và contract ổn định&#10;Kiểm soát l">
            <a:extLst xmlns:a="http://schemas.openxmlformats.org/drawingml/2006/main">
              <a:ext uri="{FF2B5EF4-FFF2-40B4-BE49-F238E27FC236}">
                <a16:creationId xmlns:a16="http://schemas.microsoft.com/office/drawing/2014/main" id="{FA81874B-261C-4A73-9ECB-10001AC5CE24}"/>
              </a:ext>
            </a:extLst>
          </p:cNvPr>
          <p:cNvSpPr>
            <a:spLocks xmlns:a="http://schemas.openxmlformats.org/drawingml/2006/main" noGrp="1"/>
          </p:cNvSpPr>
          <p:nvPr/>
        </p:nvSpPr>
        <p:spPr>
          <a:xfrm xmlns:a="http://schemas.openxmlformats.org/drawingml/2006/main">
            <a:off x="647700" y="2686050"/>
            <a:ext cx="51911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Màn hình và contract ổn định</a:t>
            </a:r>
          </a:p>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Kiểm soát luồng gọi rõ ràng</a:t>
            </a:r>
          </a:p>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Client mới có thể cần endpoint mới</a:t>
            </a:r>
          </a:p>
        </p:txBody>
      </p:sp>
      <p:sp>
        <p:nvSpPr>
          <p:cNvPr id="6" name="GraphQL">
            <a:extLst xmlns:a="http://schemas.openxmlformats.org/drawingml/2006/main">
              <a:ext uri="{FF2B5EF4-FFF2-40B4-BE49-F238E27FC236}">
                <a16:creationId xmlns:a16="http://schemas.microsoft.com/office/drawing/2014/main" id="{6B58BF05-8799-481F-A9A4-2B78790840EA}"/>
              </a:ext>
            </a:extLst>
          </p:cNvPr>
          <p:cNvSpPr>
            <a:spLocks xmlns:a="http://schemas.openxmlformats.org/drawingml/2006/main" noGrp="1"/>
          </p:cNvSpPr>
          <p:nvPr/>
        </p:nvSpPr>
        <p:spPr>
          <a:xfrm xmlns:a="http://schemas.openxmlformats.org/drawingml/2006/main">
            <a:off x="6686550" y="18478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869B1"/>
                </a:solidFill>
                <a:latin typeface="Arial"/>
                <a:ea typeface="Arial"/>
                <a:cs typeface="Arial"/>
              </a:defRPr>
            </a:defPPr>
          </a:lstStyle>
          <a:p xmlns:a="http://schemas.openxmlformats.org/drawingml/2006/main">
            <a:pPr>
              <a:defRPr sz="3000" b="1">
                <a:solidFill>
                  <a:srgbClr val="0869B1"/>
                </a:solidFill>
                <a:latin typeface="Arial"/>
                <a:ea typeface="Arial"/>
                <a:cs typeface="Arial"/>
              </a:defRPr>
            </a:pPr>
            <a:r>
              <a:rPr sz="3000" b="1">
                <a:solidFill>
                  <a:srgbClr val="0869B1"/>
                </a:solidFill>
                <a:latin typeface="Arial"/>
                <a:ea typeface="Arial"/>
                <a:cs typeface="Arial"/>
              </a:rPr>
              <a:t>GraphQL</a:t>
            </a:r>
          </a:p>
        </p:txBody>
      </p:sp>
      <p:sp>
        <p:nvSpPr>
          <p:cNvPr id="7" name="Client chọn trường theo query&#10;Cần thiết ">
            <a:extLst xmlns:a="http://schemas.openxmlformats.org/drawingml/2006/main">
              <a:ext uri="{FF2B5EF4-FFF2-40B4-BE49-F238E27FC236}">
                <a16:creationId xmlns:a16="http://schemas.microsoft.com/office/drawing/2014/main" id="{17FDBFCA-29CE-4871-A40D-E9930897E087}"/>
              </a:ext>
            </a:extLst>
          </p:cNvPr>
          <p:cNvSpPr>
            <a:spLocks xmlns:a="http://schemas.openxmlformats.org/drawingml/2006/main" noGrp="1"/>
          </p:cNvSpPr>
          <p:nvPr/>
        </p:nvSpPr>
        <p:spPr>
          <a:xfrm xmlns:a="http://schemas.openxmlformats.org/drawingml/2006/main">
            <a:off x="6686550" y="2686050"/>
            <a:ext cx="4905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448"/>
                </a:solidFill>
                <a:latin typeface="Arial"/>
                <a:ea typeface="Arial"/>
                <a:cs typeface="Arial"/>
              </a:defRPr>
            </a:defPPr>
          </a:lstStyle>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Client chọn trường theo query</a:t>
            </a:r>
          </a:p>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Cần thiết kế resolver và batching</a:t>
            </a:r>
          </a:p>
          <a:p xmlns:a="http://schemas.openxmlformats.org/drawingml/2006/main">
            <a:pPr>
              <a:defRPr sz="2250" b="0">
                <a:solidFill>
                  <a:srgbClr val="183448"/>
                </a:solidFill>
                <a:latin typeface="Arial"/>
                <a:ea typeface="Arial"/>
                <a:cs typeface="Arial"/>
              </a:defRPr>
            </a:pPr>
            <a:r>
              <a:rPr sz="2250" b="0">
                <a:solidFill>
                  <a:srgbClr val="183448"/>
                </a:solidFill>
                <a:latin typeface="Arial"/>
                <a:ea typeface="Arial"/>
                <a:cs typeface="Arial"/>
              </a:rPr>
              <a:t>Cần quản lý query cost, quyền truy cập</a:t>
            </a:r>
          </a:p>
        </p:txBody>
      </p:sp>
      <p:sp>
        <p:nvSpPr>
          <p:cNvPr id="8" name="Đã kiểm chứng web: 20 test đạt và verify">
            <a:extLst xmlns:a="http://schemas.openxmlformats.org/drawingml/2006/main">
              <a:ext uri="{FF2B5EF4-FFF2-40B4-BE49-F238E27FC236}">
                <a16:creationId xmlns:a16="http://schemas.microsoft.com/office/drawing/2014/main" id="{2AD2DD39-12F5-498E-9E5D-875702A49881}"/>
              </a:ext>
            </a:extLst>
          </p:cNvPr>
          <p:cNvSpPr>
            <a:spLocks xmlns:a="http://schemas.openxmlformats.org/drawingml/2006/main" noGrp="1"/>
          </p:cNvSpPr>
          <p:nvPr/>
        </p:nvSpPr>
        <p:spPr>
          <a:xfrm xmlns:a="http://schemas.openxmlformats.org/drawingml/2006/main">
            <a:off x="647700" y="5000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3D61"/>
                </a:solidFill>
                <a:latin typeface="Arial"/>
                <a:ea typeface="Arial"/>
                <a:cs typeface="Arial"/>
              </a:defRPr>
            </a:defPPr>
          </a:lstStyle>
          <a:p xmlns:a="http://schemas.openxmlformats.org/drawingml/2006/main">
            <a:pPr>
              <a:defRPr sz="2175" b="1">
                <a:solidFill>
                  <a:srgbClr val="123D61"/>
                </a:solidFill>
                <a:latin typeface="Arial"/>
                <a:ea typeface="Arial"/>
                <a:cs typeface="Arial"/>
              </a:defRPr>
            </a:pPr>
            <a:r>
              <a:rPr sz="2175" b="1">
                <a:solidFill>
                  <a:srgbClr val="123D61"/>
                </a:solidFill>
                <a:latin typeface="Arial"/>
                <a:ea typeface="Arial"/>
                <a:cs typeface="Arial"/>
              </a:rPr>
              <a:t>Đã kiểm chứng web: 20 test đạt và verify ALL PASS</a:t>
            </a:r>
          </a:p>
        </p:txBody>
      </p:sp>
      <p:sp>
        <p:nvSpPr>
          <p:cNvPr id="9" name="Mobile còn thiếu so với đề. Kết quả đo g">
            <a:extLst xmlns:a="http://schemas.openxmlformats.org/drawingml/2006/main">
              <a:ext uri="{FF2B5EF4-FFF2-40B4-BE49-F238E27FC236}">
                <a16:creationId xmlns:a16="http://schemas.microsoft.com/office/drawing/2014/main" id="{D71ABC1E-D4C7-465B-B5C8-42BB7D6FB59C}"/>
              </a:ext>
            </a:extLst>
          </p:cNvPr>
          <p:cNvSpPr>
            <a:spLocks xmlns:a="http://schemas.openxmlformats.org/drawingml/2006/main" noGrp="1"/>
          </p:cNvSpPr>
          <p:nvPr/>
        </p:nvSpPr>
        <p:spPr>
          <a:xfrm xmlns:a="http://schemas.openxmlformats.org/drawingml/2006/main">
            <a:off x="647700" y="57245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A56800"/>
                </a:solidFill>
                <a:latin typeface="Arial"/>
                <a:ea typeface="Arial"/>
                <a:cs typeface="Arial"/>
              </a:defRPr>
            </a:defPPr>
          </a:lstStyle>
          <a:p xmlns:a="http://schemas.openxmlformats.org/drawingml/2006/main">
            <a:pPr>
              <a:defRPr sz="1950" b="1">
                <a:solidFill>
                  <a:srgbClr val="A56800"/>
                </a:solidFill>
                <a:latin typeface="Arial"/>
                <a:ea typeface="Arial"/>
                <a:cs typeface="Arial"/>
              </a:defRPr>
            </a:pPr>
            <a:r>
              <a:rPr sz="1950" b="1">
                <a:solidFill>
                  <a:srgbClr val="A56800"/>
                </a:solidFill>
                <a:latin typeface="Arial"/>
                <a:ea typeface="Arial"/>
                <a:cs typeface="Arial"/>
              </a:rPr>
              <a:t>Mobile còn thiếu so với đề. Kết quả đo giới hạn ở localhost.</a:t>
            </a:r>
          </a:p>
        </p:txBody>
      </p:sp>
    </p:spTree>
    <p:extLst>
      <p:ext uri="{BB962C8B-B14F-4D97-AF65-F5344CB8AC3E}">
        <p14:creationId xmlns:p14="http://schemas.microsoft.com/office/powerpoint/2010/main" val="4812284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F0986B0-F194-4566-A0E8-6D9C49175E2D}"/>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Phụ lục: Vì sao chọn thiết kế hiện tại?</a:t>
            </a:r>
          </a:p>
        </p:txBody>
      </p:sp>
      <p:sp>
        <p:nvSpPr>
          <p:cNvPr id="2" name="13">
            <a:extLst xmlns:a="http://schemas.openxmlformats.org/drawingml/2006/main">
              <a:ext uri="{FF2B5EF4-FFF2-40B4-BE49-F238E27FC236}">
                <a16:creationId xmlns:a16="http://schemas.microsoft.com/office/drawing/2014/main" id="{C4E8D083-F231-49A9-AADE-F7D80E2B1D9E}"/>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13</a:t>
            </a:r>
          </a:p>
        </p:txBody>
      </p:sp>
      <p:sp>
        <p:nvSpPr>
          <p:cNvPr id="3" name="Phản biện">
            <a:extLst xmlns:a="http://schemas.openxmlformats.org/drawingml/2006/main">
              <a:ext uri="{FF2B5EF4-FFF2-40B4-BE49-F238E27FC236}">
                <a16:creationId xmlns:a16="http://schemas.microsoft.com/office/drawing/2014/main" id="{8F386BD5-B767-48F1-BDF9-D0B06102A463}"/>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Phản biện</a:t>
            </a:r>
          </a:p>
        </p:txBody>
      </p:sp>
      <p:graphicFrame>
        <p:nvGraphicFramePr>
          <p:cNvPr id="4" name="">
            <a:extLst xmlns:a="http://schemas.openxmlformats.org/drawingml/2006/main">
              <a:ext uri="{FF2B5EF4-FFF2-40B4-BE49-F238E27FC236}">
                <a16:creationId xmlns:a16="http://schemas.microsoft.com/office/drawing/2014/main" id="{65C69043-4F3D-479D-B1C3-CC5CA374A16A}"/>
              </a:ext>
            </a:extLst>
          </p:cNvPr>
          <p:cNvGraphicFramePr/>
          <p:nvPr/>
        </p:nvGraphicFramePr>
        <p:xfrm>
          <a:off xmlns:a="http://schemas.openxmlformats.org/drawingml/2006/main" x="647700" y="1752600"/>
          <a:ext xmlns:a="http://schemas.openxmlformats.org/drawingml/2006/main" cx="10839450" cy="3886200"/>
        </p:xfrm>
        <a:graphic xmlns:a="http://schemas.openxmlformats.org/drawingml/2006/main">
          <a:graphicData uri="http://schemas.openxmlformats.org/drawingml/2006/table">
            <a:tbl>
              <a:tblPr/>
              <a:tblGrid>
                <a:gridCol w="2381250"/>
                <a:gridCol w="4191000"/>
                <a:gridCol w="4267200"/>
              </a:tblGrid>
              <a:tr h="647700">
                <a:tc>
                  <a:txBody>
                    <a:bodyPr/>
                    <a:lstStyle/>
                    <a:p>
                      <a:r>
                        <a:rPr sz="1800" b="1">
                          <a:solidFill>
                            <a:srgbClr val="FFFFFF"/>
                          </a:solidFill>
                          <a:latin typeface="Arial"/>
                          <a:ea typeface="Arial"/>
                          <a:cs typeface="Arial"/>
                        </a:rPr>
                        <a:t>Lựa chọn</a:t>
                      </a:r>
                    </a:p>
                  </a:txBody>
                  <a:tcPr marL="114300" marR="114300" marT="95250" marB="76200" anchor="ctr">
                    <a:solidFill>
                      <a:srgbClr val="0869B1"/>
                    </a:solidFill>
                  </a:tcPr>
                </a:tc>
                <a:tc>
                  <a:txBody>
                    <a:bodyPr/>
                    <a:lstStyle/>
                    <a:p>
                      <a:r>
                        <a:rPr sz="1800" b="1">
                          <a:solidFill>
                            <a:srgbClr val="FFFFFF"/>
                          </a:solidFill>
                          <a:latin typeface="Arial"/>
                          <a:ea typeface="Arial"/>
                          <a:cs typeface="Arial"/>
                        </a:rPr>
                        <a:t>Lý do</a:t>
                      </a:r>
                    </a:p>
                  </a:txBody>
                  <a:tcPr marL="114300" marR="114300" marT="95250" marB="76200" anchor="ctr">
                    <a:solidFill>
                      <a:srgbClr val="0869B1"/>
                    </a:solidFill>
                  </a:tcPr>
                </a:tc>
                <a:tc>
                  <a:txBody>
                    <a:bodyPr/>
                    <a:lstStyle/>
                    <a:p>
                      <a:r>
                        <a:rPr sz="1800" b="1">
                          <a:solidFill>
                            <a:srgbClr val="FFFFFF"/>
                          </a:solidFill>
                          <a:latin typeface="Arial"/>
                          <a:ea typeface="Arial"/>
                          <a:cs typeface="Arial"/>
                        </a:rPr>
                        <a:t>Phương án khác</a:t>
                      </a:r>
                    </a:p>
                  </a:txBody>
                  <a:tcPr marL="114300" marR="114300" marT="95250" marB="76200" anchor="ctr">
                    <a:solidFill>
                      <a:srgbClr val="0869B1"/>
                    </a:solidFill>
                  </a:tcPr>
                </a:tc>
              </a:tr>
              <a:tr h="647700">
                <a:tc>
                  <a:txBody>
                    <a:bodyPr/>
                    <a:lstStyle/>
                    <a:p>
                      <a:r>
                        <a:rPr sz="1800">
                          <a:solidFill>
                            <a:srgbClr val="183448"/>
                          </a:solidFill>
                          <a:latin typeface="Arial"/>
                          <a:ea typeface="Arial"/>
                          <a:cs typeface="Arial"/>
                        </a:rPr>
                        <a:t>JSON trong RAM</a:t>
                      </a:r>
                    </a:p>
                  </a:txBody>
                  <a:tcPr marL="114300" marR="114300" marT="95250" marB="76200" anchor="ctr">
                    <a:solidFill>
                      <a:srgbClr val="EDF6FC"/>
                    </a:solidFill>
                  </a:tcPr>
                </a:tc>
                <a:tc>
                  <a:txBody>
                    <a:bodyPr/>
                    <a:lstStyle/>
                    <a:p>
                      <a:r>
                        <a:rPr sz="1800">
                          <a:solidFill>
                            <a:srgbClr val="183448"/>
                          </a:solidFill>
                          <a:latin typeface="Arial"/>
                          <a:ea typeface="Arial"/>
                          <a:cs typeface="Arial"/>
                        </a:rPr>
                        <a:t>Thầy cho dùng JSON, tập trung API</a:t>
                      </a:r>
                    </a:p>
                  </a:txBody>
                  <a:tcPr marL="114300" marR="114300" marT="95250" marB="76200" anchor="ctr">
                    <a:solidFill>
                      <a:srgbClr val="EDF6FC"/>
                    </a:solidFill>
                  </a:tcPr>
                </a:tc>
                <a:tc>
                  <a:txBody>
                    <a:bodyPr/>
                    <a:lstStyle/>
                    <a:p>
                      <a:r>
                        <a:rPr sz="1800">
                          <a:solidFill>
                            <a:srgbClr val="183448"/>
                          </a:solidFill>
                          <a:latin typeface="Arial"/>
                          <a:ea typeface="Arial"/>
                          <a:cs typeface="Arial"/>
                        </a:rPr>
                        <a:t>DB thật khi cần ghi và transaction</a:t>
                      </a:r>
                    </a:p>
                  </a:txBody>
                  <a:tcPr marL="114300" marR="114300" marT="95250" marB="76200" anchor="ctr">
                    <a:solidFill>
                      <a:srgbClr val="EDF6FC"/>
                    </a:solidFill>
                  </a:tcPr>
                </a:tc>
              </a:tr>
              <a:tr h="647700">
                <a:tc>
                  <a:txBody>
                    <a:bodyPr/>
                    <a:lstStyle/>
                    <a:p>
                      <a:r>
                        <a:rPr sz="1800">
                          <a:solidFill>
                            <a:srgbClr val="183448"/>
                          </a:solidFill>
                          <a:latin typeface="Arial"/>
                          <a:ea typeface="Arial"/>
                          <a:cs typeface="Arial"/>
                        </a:rPr>
                        <a:t>BFF web</a:t>
                      </a:r>
                    </a:p>
                  </a:txBody>
                  <a:tcPr marL="114300" marR="114300" marT="95250" marB="76200" anchor="ctr">
                    <a:solidFill>
                      <a:srgbClr val="FFFFFF"/>
                    </a:solidFill>
                  </a:tcPr>
                </a:tc>
                <a:tc>
                  <a:txBody>
                    <a:bodyPr/>
                    <a:lstStyle/>
                    <a:p>
                      <a:r>
                        <a:rPr sz="1800">
                          <a:solidFill>
                            <a:srgbClr val="183448"/>
                          </a:solidFill>
                          <a:latin typeface="Arial"/>
                          <a:ea typeface="Arial"/>
                          <a:cs typeface="Arial"/>
                        </a:rPr>
                        <a:t>Contract dashboard rõ</a:t>
                      </a:r>
                    </a:p>
                  </a:txBody>
                  <a:tcPr marL="114300" marR="114300" marT="95250" marB="76200" anchor="ctr">
                    <a:solidFill>
                      <a:srgbClr val="FFFFFF"/>
                    </a:solidFill>
                  </a:tcPr>
                </a:tc>
                <a:tc>
                  <a:txBody>
                    <a:bodyPr/>
                    <a:lstStyle/>
                    <a:p>
                      <a:r>
                        <a:rPr sz="1800">
                          <a:solidFill>
                            <a:srgbClr val="183448"/>
                          </a:solidFill>
                          <a:latin typeface="Arial"/>
                          <a:ea typeface="Arial"/>
                          <a:cs typeface="Arial"/>
                        </a:rPr>
                        <a:t>REST riêng từng resource hoặc GraphQL</a:t>
                      </a:r>
                    </a:p>
                  </a:txBody>
                  <a:tcPr marL="114300" marR="114300" marT="95250" marB="76200" anchor="ctr">
                    <a:solidFill>
                      <a:srgbClr val="FFFFFF"/>
                    </a:solidFill>
                  </a:tcPr>
                </a:tc>
              </a:tr>
              <a:tr h="647700">
                <a:tc>
                  <a:txBody>
                    <a:bodyPr/>
                    <a:lstStyle/>
                    <a:p>
                      <a:r>
                        <a:rPr sz="1800">
                          <a:solidFill>
                            <a:srgbClr val="183448"/>
                          </a:solidFill>
                          <a:latin typeface="Arial"/>
                          <a:ea typeface="Arial"/>
                          <a:cs typeface="Arial"/>
                        </a:rPr>
                        <a:t>API Product batch</a:t>
                      </a:r>
                    </a:p>
                  </a:txBody>
                  <a:tcPr marL="114300" marR="114300" marT="95250" marB="76200" anchor="ctr">
                    <a:solidFill>
                      <a:srgbClr val="EDF6FC"/>
                    </a:solidFill>
                  </a:tcPr>
                </a:tc>
                <a:tc>
                  <a:txBody>
                    <a:bodyPr/>
                    <a:lstStyle/>
                    <a:p>
                      <a:r>
                        <a:rPr sz="1800">
                          <a:solidFill>
                            <a:srgbClr val="183448"/>
                          </a:solidFill>
                          <a:latin typeface="Arial"/>
                          <a:ea typeface="Arial"/>
                          <a:cs typeface="Arial"/>
                        </a:rPr>
                        <a:t>Giảm N call thành một call</a:t>
                      </a:r>
                    </a:p>
                  </a:txBody>
                  <a:tcPr marL="114300" marR="114300" marT="95250" marB="76200" anchor="ctr">
                    <a:solidFill>
                      <a:srgbClr val="EDF6FC"/>
                    </a:solidFill>
                  </a:tcPr>
                </a:tc>
                <a:tc>
                  <a:txBody>
                    <a:bodyPr/>
                    <a:lstStyle/>
                    <a:p>
                      <a:r>
                        <a:rPr sz="1800">
                          <a:solidFill>
                            <a:srgbClr val="183448"/>
                          </a:solidFill>
                          <a:latin typeface="Arial"/>
                          <a:ea typeface="Arial"/>
                          <a:cs typeface="Arial"/>
                        </a:rPr>
                        <a:t>Promise.all chỉ tăng song song</a:t>
                      </a:r>
                    </a:p>
                  </a:txBody>
                  <a:tcPr marL="114300" marR="114300" marT="95250" marB="76200" anchor="ctr">
                    <a:solidFill>
                      <a:srgbClr val="EDF6FC"/>
                    </a:solidFill>
                  </a:tcPr>
                </a:tc>
              </a:tr>
              <a:tr h="647700">
                <a:tc>
                  <a:txBody>
                    <a:bodyPr/>
                    <a:lstStyle/>
                    <a:p>
                      <a:r>
                        <a:rPr sz="1800">
                          <a:solidFill>
                            <a:srgbClr val="183448"/>
                          </a:solidFill>
                          <a:latin typeface="Arial"/>
                          <a:ea typeface="Arial"/>
                          <a:cs typeface="Arial"/>
                        </a:rPr>
                        <a:t>Loader theo request</a:t>
                      </a:r>
                    </a:p>
                  </a:txBody>
                  <a:tcPr marL="114300" marR="114300" marT="95250" marB="76200" anchor="ctr">
                    <a:solidFill>
                      <a:srgbClr val="FFFFFF"/>
                    </a:solidFill>
                  </a:tcPr>
                </a:tc>
                <a:tc>
                  <a:txBody>
                    <a:bodyPr/>
                    <a:lstStyle/>
                    <a:p>
                      <a:r>
                        <a:rPr sz="1800">
                          <a:solidFill>
                            <a:srgbClr val="183448"/>
                          </a:solidFill>
                          <a:latin typeface="Arial"/>
                          <a:ea typeface="Arial"/>
                          <a:cs typeface="Arial"/>
                        </a:rPr>
                        <a:t>Dedup theo đúng phạm vi đề</a:t>
                      </a:r>
                    </a:p>
                  </a:txBody>
                  <a:tcPr marL="114300" marR="114300" marT="95250" marB="76200" anchor="ctr">
                    <a:solidFill>
                      <a:srgbClr val="FFFFFF"/>
                    </a:solidFill>
                  </a:tcPr>
                </a:tc>
                <a:tc>
                  <a:txBody>
                    <a:bodyPr/>
                    <a:lstStyle/>
                    <a:p>
                      <a:r>
                        <a:rPr sz="1800">
                          <a:solidFill>
                            <a:srgbClr val="183448"/>
                          </a:solidFill>
                          <a:latin typeface="Arial"/>
                          <a:ea typeface="Arial"/>
                          <a:cs typeface="Arial"/>
                        </a:rPr>
                        <a:t>Cache dài hạn cần TTL và invalidation</a:t>
                      </a:r>
                    </a:p>
                  </a:txBody>
                  <a:tcPr marL="114300" marR="114300" marT="95250" marB="76200" anchor="ctr">
                    <a:solidFill>
                      <a:srgbClr val="FFFFFF"/>
                    </a:solidFill>
                  </a:tcPr>
                </a:tc>
              </a:tr>
              <a:tr h="647700">
                <a:tc>
                  <a:txBody>
                    <a:bodyPr/>
                    <a:lstStyle/>
                    <a:p>
                      <a:r>
                        <a:rPr sz="1800">
                          <a:solidFill>
                            <a:srgbClr val="183448"/>
                          </a:solidFill>
                          <a:latin typeface="Arial"/>
                          <a:ea typeface="Arial"/>
                          <a:cs typeface="Arial"/>
                        </a:rPr>
                        <a:t>Partial Product</a:t>
                      </a:r>
                    </a:p>
                  </a:txBody>
                  <a:tcPr marL="114300" marR="114300" marT="95250" marB="76200" anchor="ctr">
                    <a:solidFill>
                      <a:srgbClr val="EDF6FC"/>
                    </a:solidFill>
                  </a:tcPr>
                </a:tc>
                <a:tc>
                  <a:txBody>
                    <a:bodyPr/>
                    <a:lstStyle/>
                    <a:p>
                      <a:r>
                        <a:rPr sz="1800">
                          <a:solidFill>
                            <a:srgbClr val="183448"/>
                          </a:solidFill>
                          <a:latin typeface="Arial"/>
                          <a:ea typeface="Arial"/>
                          <a:cs typeface="Arial"/>
                        </a:rPr>
                        <a:t>Giữ thông tin đơn còn hữu ích</a:t>
                      </a:r>
                    </a:p>
                  </a:txBody>
                  <a:tcPr marL="114300" marR="114300" marT="95250" marB="76200" anchor="ctr">
                    <a:solidFill>
                      <a:srgbClr val="EDF6FC"/>
                    </a:solidFill>
                  </a:tcPr>
                </a:tc>
                <a:tc>
                  <a:txBody>
                    <a:bodyPr/>
                    <a:lstStyle/>
                    <a:p>
                      <a:r>
                        <a:rPr sz="1800">
                          <a:solidFill>
                            <a:srgbClr val="183448"/>
                          </a:solidFill>
                          <a:latin typeface="Arial"/>
                          <a:ea typeface="Arial"/>
                          <a:cs typeface="Arial"/>
                        </a:rPr>
                        <a:t>Fail toàn bộ khi nghiệp vụ đòi đủ dữ liệu</a:t>
                      </a:r>
                    </a:p>
                  </a:txBody>
                  <a:tcPr marL="114300" marR="114300" marT="95250" marB="76200" anchor="ctr">
                    <a:solidFill>
                      <a:srgbClr val="EDF6FC"/>
                    </a:solidFill>
                  </a:tcPr>
                </a:tc>
              </a:tr>
            </a:tbl>
          </a:graphicData>
        </a:graphic>
      </p:graphicFrame>
      <p:sp>
        <p:nvSpPr>
          <p:cNvPr id="5" name="Mục tiêu, cơ chế, evidence và đánh đổi l">
            <a:extLst xmlns:a="http://schemas.openxmlformats.org/drawingml/2006/main">
              <a:ext uri="{FF2B5EF4-FFF2-40B4-BE49-F238E27FC236}">
                <a16:creationId xmlns:a16="http://schemas.microsoft.com/office/drawing/2014/main" id="{DD2CFA98-0962-4607-A825-52B8ECB099B7}"/>
              </a:ext>
            </a:extLst>
          </p:cNvPr>
          <p:cNvSpPr>
            <a:spLocks xmlns:a="http://schemas.openxmlformats.org/drawingml/2006/main" noGrp="1"/>
          </p:cNvSpPr>
          <p:nvPr/>
        </p:nvSpPr>
        <p:spPr>
          <a:xfrm xmlns:a="http://schemas.openxmlformats.org/drawingml/2006/main">
            <a:off x="647700" y="58483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69B1"/>
                </a:solidFill>
                <a:latin typeface="Arial"/>
                <a:ea typeface="Arial"/>
                <a:cs typeface="Arial"/>
              </a:defRPr>
            </a:defPPr>
          </a:lstStyle>
          <a:p xmlns:a="http://schemas.openxmlformats.org/drawingml/2006/main">
            <a:pPr>
              <a:defRPr sz="2025" b="1">
                <a:solidFill>
                  <a:srgbClr val="0869B1"/>
                </a:solidFill>
                <a:latin typeface="Arial"/>
                <a:ea typeface="Arial"/>
                <a:cs typeface="Arial"/>
              </a:defRPr>
            </a:pPr>
            <a:r>
              <a:rPr sz="2025" b="1">
                <a:solidFill>
                  <a:srgbClr val="0869B1"/>
                </a:solidFill>
                <a:latin typeface="Arial"/>
                <a:ea typeface="Arial"/>
                <a:cs typeface="Arial"/>
              </a:rPr>
              <a:t>Mục tiêu, cơ chế, evidence và đánh đổi là căn cứ trả lời</a:t>
            </a:r>
          </a:p>
        </p:txBody>
      </p:sp>
    </p:spTree>
    <p:extLst>
      <p:ext uri="{BB962C8B-B14F-4D97-AF65-F5344CB8AC3E}">
        <p14:creationId xmlns:p14="http://schemas.microsoft.com/office/powerpoint/2010/main" val="18292272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12DA3E4-7695-4C22-A42D-5830C878BC3C}"/>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Phụ lục: Bảng benchmark đầy đủ</a:t>
            </a:r>
          </a:p>
        </p:txBody>
      </p:sp>
      <p:sp>
        <p:nvSpPr>
          <p:cNvPr id="2" name="14">
            <a:extLst xmlns:a="http://schemas.openxmlformats.org/drawingml/2006/main">
              <a:ext uri="{FF2B5EF4-FFF2-40B4-BE49-F238E27FC236}">
                <a16:creationId xmlns:a16="http://schemas.microsoft.com/office/drawing/2014/main" id="{F991203A-C05F-49F1-A200-DD1577CDCD6E}"/>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14</a:t>
            </a:r>
          </a:p>
        </p:txBody>
      </p:sp>
      <p:sp>
        <p:nvSpPr>
          <p:cNvPr id="3" name="Evidence">
            <a:extLst xmlns:a="http://schemas.openxmlformats.org/drawingml/2006/main">
              <a:ext uri="{FF2B5EF4-FFF2-40B4-BE49-F238E27FC236}">
                <a16:creationId xmlns:a16="http://schemas.microsoft.com/office/drawing/2014/main" id="{197B9447-617A-4CD7-97A8-FB35005E2825}"/>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Evidence</a:t>
            </a:r>
          </a:p>
        </p:txBody>
      </p:sp>
      <p:graphicFrame>
        <p:nvGraphicFramePr>
          <p:cNvPr id="4" name="">
            <a:extLst xmlns:a="http://schemas.openxmlformats.org/drawingml/2006/main">
              <a:ext uri="{FF2B5EF4-FFF2-40B4-BE49-F238E27FC236}">
                <a16:creationId xmlns:a16="http://schemas.microsoft.com/office/drawing/2014/main" id="{B07A5DEC-BD14-40A2-9280-25249EACCE27}"/>
              </a:ext>
            </a:extLst>
          </p:cNvPr>
          <p:cNvGraphicFramePr/>
          <p:nvPr/>
        </p:nvGraphicFramePr>
        <p:xfrm>
          <a:off xmlns:a="http://schemas.openxmlformats.org/drawingml/2006/main" x="647700" y="1743075"/>
          <a:ext xmlns:a="http://schemas.openxmlformats.org/drawingml/2006/main" cx="10839450" cy="3952875"/>
        </p:xfrm>
        <a:graphic xmlns:a="http://schemas.openxmlformats.org/drawingml/2006/main">
          <a:graphicData uri="http://schemas.openxmlformats.org/drawingml/2006/table">
            <a:tbl>
              <a:tblPr/>
              <a:tblGrid>
                <a:gridCol w="1095375"/>
                <a:gridCol w="2524125"/>
                <a:gridCol w="3962400"/>
                <a:gridCol w="1524000"/>
                <a:gridCol w="1733550"/>
              </a:tblGrid>
              <a:tr h="439208">
                <a:tc>
                  <a:txBody>
                    <a:bodyPr/>
                    <a:lstStyle/>
                    <a:p>
                      <a:r>
                        <a:rPr sz="1800" b="1">
                          <a:solidFill>
                            <a:srgbClr val="FFFFFF"/>
                          </a:solidFill>
                          <a:latin typeface="Arial"/>
                          <a:ea typeface="Arial"/>
                          <a:cs typeface="Arial"/>
                        </a:rPr>
                        <a:t>Bộ</a:t>
                      </a:r>
                    </a:p>
                  </a:txBody>
                  <a:tcPr marL="114300" marR="114300" marT="95250" marB="76200" anchor="ctr">
                    <a:solidFill>
                      <a:srgbClr val="0869B1"/>
                    </a:solidFill>
                  </a:tcPr>
                </a:tc>
                <a:tc>
                  <a:txBody>
                    <a:bodyPr/>
                    <a:lstStyle/>
                    <a:p>
                      <a:r>
                        <a:rPr sz="1800" b="1">
                          <a:solidFill>
                            <a:srgbClr val="FFFFFF"/>
                          </a:solidFill>
                          <a:latin typeface="Arial"/>
                          <a:ea typeface="Arial"/>
                          <a:cs typeface="Arial"/>
                        </a:rPr>
                        <a:t>Biến thể</a:t>
                      </a:r>
                    </a:p>
                  </a:txBody>
                  <a:tcPr marL="114300" marR="114300" marT="95250" marB="76200" anchor="ctr">
                    <a:solidFill>
                      <a:srgbClr val="0869B1"/>
                    </a:solidFill>
                  </a:tcPr>
                </a:tc>
                <a:tc>
                  <a:txBody>
                    <a:bodyPr/>
                    <a:lstStyle/>
                    <a:p>
                      <a:r>
                        <a:rPr sz="1800" b="1">
                          <a:solidFill>
                            <a:srgbClr val="FFFFFF"/>
                          </a:solidFill>
                          <a:latin typeface="Arial"/>
                          <a:ea typeface="Arial"/>
                          <a:cs typeface="Arial"/>
                        </a:rPr>
                        <a:t>Median ấm [min–max] ms</a:t>
                      </a:r>
                    </a:p>
                  </a:txBody>
                  <a:tcPr marL="114300" marR="114300" marT="95250" marB="76200" anchor="ctr">
                    <a:solidFill>
                      <a:srgbClr val="0869B1"/>
                    </a:solidFill>
                  </a:tcPr>
                </a:tc>
                <a:tc>
                  <a:txBody>
                    <a:bodyPr/>
                    <a:lstStyle/>
                    <a:p>
                      <a:r>
                        <a:rPr sz="1800" b="1">
                          <a:solidFill>
                            <a:srgbClr val="FFFFFF"/>
                          </a:solidFill>
                          <a:latin typeface="Arial"/>
                          <a:ea typeface="Arial"/>
                          <a:cs typeface="Arial"/>
                        </a:rPr>
                        <a:t>Client req</a:t>
                      </a:r>
                    </a:p>
                  </a:txBody>
                  <a:tcPr marL="114300" marR="114300" marT="95250" marB="76200" anchor="ctr">
                    <a:solidFill>
                      <a:srgbClr val="0869B1"/>
                    </a:solidFill>
                  </a:tcPr>
                </a:tc>
                <a:tc>
                  <a:txBody>
                    <a:bodyPr/>
                    <a:lstStyle/>
                    <a:p>
                      <a:r>
                        <a:rPr sz="1800" b="1">
                          <a:solidFill>
                            <a:srgbClr val="FFFFFF"/>
                          </a:solidFill>
                          <a:latin typeface="Arial"/>
                          <a:ea typeface="Arial"/>
                          <a:cs typeface="Arial"/>
                        </a:rPr>
                        <a:t>Product call</a:t>
                      </a:r>
                    </a:p>
                  </a:txBody>
                  <a:tcPr marL="114300" marR="114300" marT="95250" marB="76200" anchor="ctr">
                    <a:solidFill>
                      <a:srgbClr val="0869B1"/>
                    </a:solidFill>
                  </a:tcPr>
                </a:tc>
              </a:tr>
              <a:tr h="439208">
                <a:tc>
                  <a:txBody>
                    <a:bodyPr/>
                    <a:lstStyle/>
                    <a:p>
                      <a:r>
                        <a:rPr sz="1800">
                          <a:solidFill>
                            <a:srgbClr val="183448"/>
                          </a:solidFill>
                          <a:latin typeface="Arial"/>
                          <a:ea typeface="Arial"/>
                          <a:cs typeface="Arial"/>
                        </a:rPr>
                        <a:t>Small</a:t>
                      </a:r>
                    </a:p>
                  </a:txBody>
                  <a:tcPr marL="114300" marR="114300" marT="95250" marB="76200" anchor="ctr">
                    <a:solidFill>
                      <a:srgbClr val="EDF6FC"/>
                    </a:solidFill>
                  </a:tcPr>
                </a:tc>
                <a:tc>
                  <a:txBody>
                    <a:bodyPr/>
                    <a:lstStyle/>
                    <a:p>
                      <a:r>
                        <a:rPr sz="1800">
                          <a:solidFill>
                            <a:srgbClr val="183448"/>
                          </a:solidFill>
                          <a:latin typeface="Arial"/>
                          <a:ea typeface="Arial"/>
                          <a:cs typeface="Arial"/>
                        </a:rPr>
                        <a:t>Baseline</a:t>
                      </a:r>
                    </a:p>
                  </a:txBody>
                  <a:tcPr marL="114300" marR="114300" marT="95250" marB="76200" anchor="ctr">
                    <a:solidFill>
                      <a:srgbClr val="EDF6FC"/>
                    </a:solidFill>
                  </a:tcPr>
                </a:tc>
                <a:tc>
                  <a:txBody>
                    <a:bodyPr/>
                    <a:lstStyle/>
                    <a:p>
                      <a:r>
                        <a:rPr sz="1800">
                          <a:solidFill>
                            <a:srgbClr val="183448"/>
                          </a:solidFill>
                          <a:latin typeface="Arial"/>
                          <a:ea typeface="Arial"/>
                          <a:cs typeface="Arial"/>
                        </a:rPr>
                        <a:t>107,3 [100,1–143,1]</a:t>
                      </a:r>
                    </a:p>
                  </a:txBody>
                  <a:tcPr marL="114300" marR="114300" marT="95250" marB="76200" anchor="ctr">
                    <a:solidFill>
                      <a:srgbClr val="EDF6FC"/>
                    </a:solidFill>
                  </a:tcPr>
                </a:tc>
                <a:tc>
                  <a:txBody>
                    <a:bodyPr/>
                    <a:lstStyle/>
                    <a:p>
                      <a:r>
                        <a:rPr sz="1800">
                          <a:solidFill>
                            <a:srgbClr val="183448"/>
                          </a:solidFill>
                          <a:latin typeface="Arial"/>
                          <a:ea typeface="Arial"/>
                          <a:cs typeface="Arial"/>
                        </a:rPr>
                        <a:t>7</a:t>
                      </a:r>
                    </a:p>
                  </a:txBody>
                  <a:tcPr marL="114300" marR="114300" marT="95250" marB="76200" anchor="ctr">
                    <a:solidFill>
                      <a:srgbClr val="EDF6FC"/>
                    </a:solidFill>
                  </a:tcPr>
                </a:tc>
                <a:tc>
                  <a:txBody>
                    <a:bodyPr/>
                    <a:lstStyle/>
                    <a:p>
                      <a:r>
                        <a:rPr sz="1800">
                          <a:solidFill>
                            <a:srgbClr val="183448"/>
                          </a:solidFill>
                          <a:latin typeface="Arial"/>
                          <a:ea typeface="Arial"/>
                          <a:cs typeface="Arial"/>
                        </a:rPr>
                        <a:t>5</a:t>
                      </a:r>
                    </a:p>
                  </a:txBody>
                  <a:tcPr marL="114300" marR="114300" marT="95250" marB="76200" anchor="ctr">
                    <a:solidFill>
                      <a:srgbClr val="EDF6FC"/>
                    </a:solidFill>
                  </a:tcPr>
                </a:tc>
              </a:tr>
              <a:tr h="439208">
                <a:tc>
                  <a:txBody>
                    <a:bodyPr/>
                    <a:lstStyle/>
                    <a:p>
                      <a:r>
                        <a:rPr sz="1800">
                          <a:solidFill>
                            <a:srgbClr val="183448"/>
                          </a:solidFill>
                          <a:latin typeface="Arial"/>
                          <a:ea typeface="Arial"/>
                          <a:cs typeface="Arial"/>
                        </a:rPr>
                        <a:t>Small</a:t>
                      </a:r>
                    </a:p>
                  </a:txBody>
                  <a:tcPr marL="114300" marR="114300" marT="95250" marB="76200" anchor="ctr">
                    <a:solidFill>
                      <a:srgbClr val="FFFFFF"/>
                    </a:solidFill>
                  </a:tcPr>
                </a:tc>
                <a:tc>
                  <a:txBody>
                    <a:bodyPr/>
                    <a:lstStyle/>
                    <a:p>
                      <a:r>
                        <a:rPr sz="1800">
                          <a:solidFill>
                            <a:srgbClr val="183448"/>
                          </a:solidFill>
                          <a:latin typeface="Arial"/>
                          <a:ea typeface="Arial"/>
                          <a:cs typeface="Arial"/>
                        </a:rPr>
                        <a:t>BFF</a:t>
                      </a:r>
                    </a:p>
                  </a:txBody>
                  <a:tcPr marL="114300" marR="114300" marT="95250" marB="76200" anchor="ctr">
                    <a:solidFill>
                      <a:srgbClr val="FFFFFF"/>
                    </a:solidFill>
                  </a:tcPr>
                </a:tc>
                <a:tc>
                  <a:txBody>
                    <a:bodyPr/>
                    <a:lstStyle/>
                    <a:p>
                      <a:r>
                        <a:rPr sz="1800">
                          <a:solidFill>
                            <a:srgbClr val="183448"/>
                          </a:solidFill>
                          <a:latin typeface="Arial"/>
                          <a:ea typeface="Arial"/>
                          <a:cs typeface="Arial"/>
                        </a:rPr>
                        <a:t>88,8 [58,7–156,4]</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r>
              <a:tr h="439208">
                <a:tc>
                  <a:txBody>
                    <a:bodyPr/>
                    <a:lstStyle/>
                    <a:p>
                      <a:r>
                        <a:rPr sz="1800">
                          <a:solidFill>
                            <a:srgbClr val="183448"/>
                          </a:solidFill>
                          <a:latin typeface="Arial"/>
                          <a:ea typeface="Arial"/>
                          <a:cs typeface="Arial"/>
                        </a:rPr>
                        <a:t>Small</a:t>
                      </a:r>
                    </a:p>
                  </a:txBody>
                  <a:tcPr marL="114300" marR="114300" marT="95250" marB="76200" anchor="ctr">
                    <a:solidFill>
                      <a:srgbClr val="EDF6FC"/>
                    </a:solidFill>
                  </a:tcPr>
                </a:tc>
                <a:tc>
                  <a:txBody>
                    <a:bodyPr/>
                    <a:lstStyle/>
                    <a:p>
                      <a:r>
                        <a:rPr sz="1800">
                          <a:solidFill>
                            <a:srgbClr val="183448"/>
                          </a:solidFill>
                          <a:latin typeface="Arial"/>
                          <a:ea typeface="Arial"/>
                          <a:cs typeface="Arial"/>
                        </a:rPr>
                        <a:t>GraphQL naive</a:t>
                      </a:r>
                    </a:p>
                  </a:txBody>
                  <a:tcPr marL="114300" marR="114300" marT="95250" marB="76200" anchor="ctr">
                    <a:solidFill>
                      <a:srgbClr val="EDF6FC"/>
                    </a:solidFill>
                  </a:tcPr>
                </a:tc>
                <a:tc>
                  <a:txBody>
                    <a:bodyPr/>
                    <a:lstStyle/>
                    <a:p>
                      <a:r>
                        <a:rPr sz="1800">
                          <a:solidFill>
                            <a:srgbClr val="183448"/>
                          </a:solidFill>
                          <a:latin typeface="Arial"/>
                          <a:ea typeface="Arial"/>
                          <a:cs typeface="Arial"/>
                        </a:rPr>
                        <a:t>63,8 [60,7–71]</a:t>
                      </a:r>
                    </a:p>
                  </a:txBody>
                  <a:tcPr marL="114300" marR="114300" marT="95250" marB="76200" anchor="ctr">
                    <a:solidFill>
                      <a:srgbClr val="EDF6FC"/>
                    </a:solidFill>
                  </a:tcPr>
                </a:tc>
                <a:tc>
                  <a:txBody>
                    <a:bodyPr/>
                    <a:lstStyle/>
                    <a:p>
                      <a:r>
                        <a:rPr sz="1800">
                          <a:solidFill>
                            <a:srgbClr val="183448"/>
                          </a:solidFill>
                          <a:latin typeface="Arial"/>
                          <a:ea typeface="Arial"/>
                          <a:cs typeface="Arial"/>
                        </a:rPr>
                        <a:t>1</a:t>
                      </a:r>
                    </a:p>
                  </a:txBody>
                  <a:tcPr marL="114300" marR="114300" marT="95250" marB="76200" anchor="ctr">
                    <a:solidFill>
                      <a:srgbClr val="EDF6FC"/>
                    </a:solidFill>
                  </a:tcPr>
                </a:tc>
                <a:tc>
                  <a:txBody>
                    <a:bodyPr/>
                    <a:lstStyle/>
                    <a:p>
                      <a:r>
                        <a:rPr sz="1800">
                          <a:solidFill>
                            <a:srgbClr val="183448"/>
                          </a:solidFill>
                          <a:latin typeface="Arial"/>
                          <a:ea typeface="Arial"/>
                          <a:cs typeface="Arial"/>
                        </a:rPr>
                        <a:t>5</a:t>
                      </a:r>
                    </a:p>
                  </a:txBody>
                  <a:tcPr marL="114300" marR="114300" marT="95250" marB="76200" anchor="ctr">
                    <a:solidFill>
                      <a:srgbClr val="EDF6FC"/>
                    </a:solidFill>
                  </a:tcPr>
                </a:tc>
              </a:tr>
              <a:tr h="439208">
                <a:tc>
                  <a:txBody>
                    <a:bodyPr/>
                    <a:lstStyle/>
                    <a:p>
                      <a:r>
                        <a:rPr sz="1800">
                          <a:solidFill>
                            <a:srgbClr val="183448"/>
                          </a:solidFill>
                          <a:latin typeface="Arial"/>
                          <a:ea typeface="Arial"/>
                          <a:cs typeface="Arial"/>
                        </a:rPr>
                        <a:t>Small</a:t>
                      </a:r>
                    </a:p>
                  </a:txBody>
                  <a:tcPr marL="114300" marR="114300" marT="95250" marB="76200" anchor="ctr">
                    <a:solidFill>
                      <a:srgbClr val="FFFFFF"/>
                    </a:solidFill>
                  </a:tcPr>
                </a:tc>
                <a:tc>
                  <a:txBody>
                    <a:bodyPr/>
                    <a:lstStyle/>
                    <a:p>
                      <a:r>
                        <a:rPr sz="1800">
                          <a:solidFill>
                            <a:srgbClr val="183448"/>
                          </a:solidFill>
                          <a:latin typeface="Arial"/>
                          <a:ea typeface="Arial"/>
                          <a:cs typeface="Arial"/>
                        </a:rPr>
                        <a:t>GraphQL loader</a:t>
                      </a:r>
                    </a:p>
                  </a:txBody>
                  <a:tcPr marL="114300" marR="114300" marT="95250" marB="76200" anchor="ctr">
                    <a:solidFill>
                      <a:srgbClr val="FFFFFF"/>
                    </a:solidFill>
                  </a:tcPr>
                </a:tc>
                <a:tc>
                  <a:txBody>
                    <a:bodyPr/>
                    <a:lstStyle/>
                    <a:p>
                      <a:r>
                        <a:rPr sz="1800">
                          <a:solidFill>
                            <a:srgbClr val="183448"/>
                          </a:solidFill>
                          <a:latin typeface="Arial"/>
                          <a:ea typeface="Arial"/>
                          <a:cs typeface="Arial"/>
                        </a:rPr>
                        <a:t>72,2 [70,1–87]</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r>
              <a:tr h="439208">
                <a:tc>
                  <a:txBody>
                    <a:bodyPr/>
                    <a:lstStyle/>
                    <a:p>
                      <a:r>
                        <a:rPr sz="1800">
                          <a:solidFill>
                            <a:srgbClr val="183448"/>
                          </a:solidFill>
                          <a:latin typeface="Arial"/>
                          <a:ea typeface="Arial"/>
                          <a:cs typeface="Arial"/>
                        </a:rPr>
                        <a:t>Large</a:t>
                      </a:r>
                    </a:p>
                  </a:txBody>
                  <a:tcPr marL="114300" marR="114300" marT="95250" marB="76200" anchor="ctr">
                    <a:solidFill>
                      <a:srgbClr val="EDF6FC"/>
                    </a:solidFill>
                  </a:tcPr>
                </a:tc>
                <a:tc>
                  <a:txBody>
                    <a:bodyPr/>
                    <a:lstStyle/>
                    <a:p>
                      <a:r>
                        <a:rPr sz="1800">
                          <a:solidFill>
                            <a:srgbClr val="183448"/>
                          </a:solidFill>
                          <a:latin typeface="Arial"/>
                          <a:ea typeface="Arial"/>
                          <a:cs typeface="Arial"/>
                        </a:rPr>
                        <a:t>Baseline</a:t>
                      </a:r>
                    </a:p>
                  </a:txBody>
                  <a:tcPr marL="114300" marR="114300" marT="95250" marB="76200" anchor="ctr">
                    <a:solidFill>
                      <a:srgbClr val="EDF6FC"/>
                    </a:solidFill>
                  </a:tcPr>
                </a:tc>
                <a:tc>
                  <a:txBody>
                    <a:bodyPr/>
                    <a:lstStyle/>
                    <a:p>
                      <a:r>
                        <a:rPr sz="1800">
                          <a:solidFill>
                            <a:srgbClr val="183448"/>
                          </a:solidFill>
                          <a:latin typeface="Arial"/>
                          <a:ea typeface="Arial"/>
                          <a:cs typeface="Arial"/>
                        </a:rPr>
                        <a:t>475,1 [427,7–566,2]</a:t>
                      </a:r>
                    </a:p>
                  </a:txBody>
                  <a:tcPr marL="114300" marR="114300" marT="95250" marB="76200" anchor="ctr">
                    <a:solidFill>
                      <a:srgbClr val="EDF6FC"/>
                    </a:solidFill>
                  </a:tcPr>
                </a:tc>
                <a:tc>
                  <a:txBody>
                    <a:bodyPr/>
                    <a:lstStyle/>
                    <a:p>
                      <a:r>
                        <a:rPr sz="1800">
                          <a:solidFill>
                            <a:srgbClr val="183448"/>
                          </a:solidFill>
                          <a:latin typeface="Arial"/>
                          <a:ea typeface="Arial"/>
                          <a:cs typeface="Arial"/>
                        </a:rPr>
                        <a:t>202</a:t>
                      </a:r>
                    </a:p>
                  </a:txBody>
                  <a:tcPr marL="114300" marR="114300" marT="95250" marB="76200" anchor="ctr">
                    <a:solidFill>
                      <a:srgbClr val="EDF6FC"/>
                    </a:solidFill>
                  </a:tcPr>
                </a:tc>
                <a:tc>
                  <a:txBody>
                    <a:bodyPr/>
                    <a:lstStyle/>
                    <a:p>
                      <a:r>
                        <a:rPr sz="1800">
                          <a:solidFill>
                            <a:srgbClr val="183448"/>
                          </a:solidFill>
                          <a:latin typeface="Arial"/>
                          <a:ea typeface="Arial"/>
                          <a:cs typeface="Arial"/>
                        </a:rPr>
                        <a:t>200</a:t>
                      </a:r>
                    </a:p>
                  </a:txBody>
                  <a:tcPr marL="114300" marR="114300" marT="95250" marB="76200" anchor="ctr">
                    <a:solidFill>
                      <a:srgbClr val="EDF6FC"/>
                    </a:solidFill>
                  </a:tcPr>
                </a:tc>
              </a:tr>
              <a:tr h="439208">
                <a:tc>
                  <a:txBody>
                    <a:bodyPr/>
                    <a:lstStyle/>
                    <a:p>
                      <a:r>
                        <a:rPr sz="1800">
                          <a:solidFill>
                            <a:srgbClr val="183448"/>
                          </a:solidFill>
                          <a:latin typeface="Arial"/>
                          <a:ea typeface="Arial"/>
                          <a:cs typeface="Arial"/>
                        </a:rPr>
                        <a:t>Large</a:t>
                      </a:r>
                    </a:p>
                  </a:txBody>
                  <a:tcPr marL="114300" marR="114300" marT="95250" marB="76200" anchor="ctr">
                    <a:solidFill>
                      <a:srgbClr val="FFFFFF"/>
                    </a:solidFill>
                  </a:tcPr>
                </a:tc>
                <a:tc>
                  <a:txBody>
                    <a:bodyPr/>
                    <a:lstStyle/>
                    <a:p>
                      <a:r>
                        <a:rPr sz="1800">
                          <a:solidFill>
                            <a:srgbClr val="183448"/>
                          </a:solidFill>
                          <a:latin typeface="Arial"/>
                          <a:ea typeface="Arial"/>
                          <a:cs typeface="Arial"/>
                        </a:rPr>
                        <a:t>BFF</a:t>
                      </a:r>
                    </a:p>
                  </a:txBody>
                  <a:tcPr marL="114300" marR="114300" marT="95250" marB="76200" anchor="ctr">
                    <a:solidFill>
                      <a:srgbClr val="FFFFFF"/>
                    </a:solidFill>
                  </a:tcPr>
                </a:tc>
                <a:tc>
                  <a:txBody>
                    <a:bodyPr/>
                    <a:lstStyle/>
                    <a:p>
                      <a:r>
                        <a:rPr sz="1800">
                          <a:solidFill>
                            <a:srgbClr val="183448"/>
                          </a:solidFill>
                          <a:latin typeface="Arial"/>
                          <a:ea typeface="Arial"/>
                          <a:cs typeface="Arial"/>
                        </a:rPr>
                        <a:t>66 [59,4–87,2]</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r>
              <a:tr h="439208">
                <a:tc>
                  <a:txBody>
                    <a:bodyPr/>
                    <a:lstStyle/>
                    <a:p>
                      <a:r>
                        <a:rPr sz="1800">
                          <a:solidFill>
                            <a:srgbClr val="183448"/>
                          </a:solidFill>
                          <a:latin typeface="Arial"/>
                          <a:ea typeface="Arial"/>
                          <a:cs typeface="Arial"/>
                        </a:rPr>
                        <a:t>Large</a:t>
                      </a:r>
                    </a:p>
                  </a:txBody>
                  <a:tcPr marL="114300" marR="114300" marT="95250" marB="76200" anchor="ctr">
                    <a:solidFill>
                      <a:srgbClr val="EDF6FC"/>
                    </a:solidFill>
                  </a:tcPr>
                </a:tc>
                <a:tc>
                  <a:txBody>
                    <a:bodyPr/>
                    <a:lstStyle/>
                    <a:p>
                      <a:r>
                        <a:rPr sz="1800">
                          <a:solidFill>
                            <a:srgbClr val="183448"/>
                          </a:solidFill>
                          <a:latin typeface="Arial"/>
                          <a:ea typeface="Arial"/>
                          <a:cs typeface="Arial"/>
                        </a:rPr>
                        <a:t>GraphQL naive</a:t>
                      </a:r>
                    </a:p>
                  </a:txBody>
                  <a:tcPr marL="114300" marR="114300" marT="95250" marB="76200" anchor="ctr">
                    <a:solidFill>
                      <a:srgbClr val="EDF6FC"/>
                    </a:solidFill>
                  </a:tcPr>
                </a:tc>
                <a:tc>
                  <a:txBody>
                    <a:bodyPr/>
                    <a:lstStyle/>
                    <a:p>
                      <a:r>
                        <a:rPr sz="1800">
                          <a:solidFill>
                            <a:srgbClr val="183448"/>
                          </a:solidFill>
                          <a:latin typeface="Arial"/>
                          <a:ea typeface="Arial"/>
                          <a:cs typeface="Arial"/>
                        </a:rPr>
                        <a:t>146,2 [121,9–236,6]</a:t>
                      </a:r>
                    </a:p>
                  </a:txBody>
                  <a:tcPr marL="114300" marR="114300" marT="95250" marB="76200" anchor="ctr">
                    <a:solidFill>
                      <a:srgbClr val="EDF6FC"/>
                    </a:solidFill>
                  </a:tcPr>
                </a:tc>
                <a:tc>
                  <a:txBody>
                    <a:bodyPr/>
                    <a:lstStyle/>
                    <a:p>
                      <a:r>
                        <a:rPr sz="1800">
                          <a:solidFill>
                            <a:srgbClr val="183448"/>
                          </a:solidFill>
                          <a:latin typeface="Arial"/>
                          <a:ea typeface="Arial"/>
                          <a:cs typeface="Arial"/>
                        </a:rPr>
                        <a:t>1</a:t>
                      </a:r>
                    </a:p>
                  </a:txBody>
                  <a:tcPr marL="114300" marR="114300" marT="95250" marB="76200" anchor="ctr">
                    <a:solidFill>
                      <a:srgbClr val="EDF6FC"/>
                    </a:solidFill>
                  </a:tcPr>
                </a:tc>
                <a:tc>
                  <a:txBody>
                    <a:bodyPr/>
                    <a:lstStyle/>
                    <a:p>
                      <a:r>
                        <a:rPr sz="1800">
                          <a:solidFill>
                            <a:srgbClr val="183448"/>
                          </a:solidFill>
                          <a:latin typeface="Arial"/>
                          <a:ea typeface="Arial"/>
                          <a:cs typeface="Arial"/>
                        </a:rPr>
                        <a:t>200</a:t>
                      </a:r>
                    </a:p>
                  </a:txBody>
                  <a:tcPr marL="114300" marR="114300" marT="95250" marB="76200" anchor="ctr">
                    <a:solidFill>
                      <a:srgbClr val="EDF6FC"/>
                    </a:solidFill>
                  </a:tcPr>
                </a:tc>
              </a:tr>
              <a:tr h="439208">
                <a:tc>
                  <a:txBody>
                    <a:bodyPr/>
                    <a:lstStyle/>
                    <a:p>
                      <a:r>
                        <a:rPr sz="1800">
                          <a:solidFill>
                            <a:srgbClr val="183448"/>
                          </a:solidFill>
                          <a:latin typeface="Arial"/>
                          <a:ea typeface="Arial"/>
                          <a:cs typeface="Arial"/>
                        </a:rPr>
                        <a:t>Large</a:t>
                      </a:r>
                    </a:p>
                  </a:txBody>
                  <a:tcPr marL="114300" marR="114300" marT="95250" marB="76200" anchor="ctr">
                    <a:solidFill>
                      <a:srgbClr val="FFFFFF"/>
                    </a:solidFill>
                  </a:tcPr>
                </a:tc>
                <a:tc>
                  <a:txBody>
                    <a:bodyPr/>
                    <a:lstStyle/>
                    <a:p>
                      <a:r>
                        <a:rPr sz="1800">
                          <a:solidFill>
                            <a:srgbClr val="183448"/>
                          </a:solidFill>
                          <a:latin typeface="Arial"/>
                          <a:ea typeface="Arial"/>
                          <a:cs typeface="Arial"/>
                        </a:rPr>
                        <a:t>GraphQL loader</a:t>
                      </a:r>
                    </a:p>
                  </a:txBody>
                  <a:tcPr marL="114300" marR="114300" marT="95250" marB="76200" anchor="ctr">
                    <a:solidFill>
                      <a:srgbClr val="FFFFFF"/>
                    </a:solidFill>
                  </a:tcPr>
                </a:tc>
                <a:tc>
                  <a:txBody>
                    <a:bodyPr/>
                    <a:lstStyle/>
                    <a:p>
                      <a:r>
                        <a:rPr sz="1800">
                          <a:solidFill>
                            <a:srgbClr val="183448"/>
                          </a:solidFill>
                          <a:latin typeface="Arial"/>
                          <a:ea typeface="Arial"/>
                          <a:cs typeface="Arial"/>
                        </a:rPr>
                        <a:t>76,8 [69–140,2]</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c>
                  <a:txBody>
                    <a:bodyPr/>
                    <a:lstStyle/>
                    <a:p>
                      <a:r>
                        <a:rPr sz="1800">
                          <a:solidFill>
                            <a:srgbClr val="183448"/>
                          </a:solidFill>
                          <a:latin typeface="Arial"/>
                          <a:ea typeface="Arial"/>
                          <a:cs typeface="Arial"/>
                        </a:rPr>
                        <a:t>1</a:t>
                      </a:r>
                    </a:p>
                  </a:txBody>
                  <a:tcPr marL="114300" marR="114300" marT="95250" marB="76200" anchor="ctr">
                    <a:solidFill>
                      <a:srgbClr val="FFFFFF"/>
                    </a:solidFill>
                  </a:tcPr>
                </a:tc>
              </a:tr>
            </a:tbl>
          </a:graphicData>
        </a:graphic>
      </p:graphicFrame>
      <p:sp>
        <p:nvSpPr>
          <p:cNvPr id="5" name="48 mẫu. Một lạnh + năm ấm mỗi cấu hình. ">
            <a:extLst xmlns:a="http://schemas.openxmlformats.org/drawingml/2006/main">
              <a:ext uri="{FF2B5EF4-FFF2-40B4-BE49-F238E27FC236}">
                <a16:creationId xmlns:a16="http://schemas.microsoft.com/office/drawing/2014/main" id="{9DFB2F92-79EA-4F8F-A416-9922600851BD}"/>
              </a:ext>
            </a:extLst>
          </p:cNvPr>
          <p:cNvSpPr>
            <a:spLocks xmlns:a="http://schemas.openxmlformats.org/drawingml/2006/main" noGrp="1"/>
          </p:cNvSpPr>
          <p:nvPr/>
        </p:nvSpPr>
        <p:spPr>
          <a:xfrm xmlns:a="http://schemas.openxmlformats.org/drawingml/2006/main">
            <a:off x="647700" y="592455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979"/>
                </a:solidFill>
                <a:latin typeface="Arial"/>
                <a:ea typeface="Arial"/>
                <a:cs typeface="Arial"/>
              </a:defRPr>
            </a:defPPr>
          </a:lstStyle>
          <a:p xmlns:a="http://schemas.openxmlformats.org/drawingml/2006/main">
            <a:pPr>
              <a:defRPr sz="1575" b="0">
                <a:solidFill>
                  <a:srgbClr val="516979"/>
                </a:solidFill>
                <a:latin typeface="Arial"/>
                <a:ea typeface="Arial"/>
                <a:cs typeface="Arial"/>
              </a:defRPr>
            </a:pPr>
            <a:r>
              <a:rPr sz="1575" b="0">
                <a:solidFill>
                  <a:srgbClr val="516979"/>
                </a:solidFill>
                <a:latin typeface="Arial"/>
                <a:ea typeface="Arial"/>
                <a:cs typeface="Arial"/>
              </a:rPr>
              <a:t>48 mẫu. Một lạnh + năm ấm mỗi cấu hình. Cold báo riêng trong summary.</a:t>
            </a:r>
          </a:p>
        </p:txBody>
      </p:sp>
    </p:spTree>
    <p:extLst>
      <p:ext uri="{BB962C8B-B14F-4D97-AF65-F5344CB8AC3E}">
        <p14:creationId xmlns:p14="http://schemas.microsoft.com/office/powerpoint/2010/main" val="3503090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B84DD8D-30A1-4959-BDBA-052CBF825781}"/>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Phụ lục: Nhiều call hơn vẫn có thể nhanh hơn</a:t>
            </a:r>
          </a:p>
        </p:txBody>
      </p:sp>
      <p:sp>
        <p:nvSpPr>
          <p:cNvPr id="2" name="15">
            <a:extLst xmlns:a="http://schemas.openxmlformats.org/drawingml/2006/main">
              <a:ext uri="{FF2B5EF4-FFF2-40B4-BE49-F238E27FC236}">
                <a16:creationId xmlns:a16="http://schemas.microsoft.com/office/drawing/2014/main" id="{CE293B64-66C7-4181-BE82-1E2886A9F9A6}"/>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15</a:t>
            </a:r>
          </a:p>
        </p:txBody>
      </p:sp>
      <p:sp>
        <p:nvSpPr>
          <p:cNvPr id="3" name="Phản biện">
            <a:extLst xmlns:a="http://schemas.openxmlformats.org/drawingml/2006/main">
              <a:ext uri="{FF2B5EF4-FFF2-40B4-BE49-F238E27FC236}">
                <a16:creationId xmlns:a16="http://schemas.microsoft.com/office/drawing/2014/main" id="{00443F45-73B4-4464-BAA7-3D9808E055EA}"/>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Phản biện</a:t>
            </a:r>
          </a:p>
        </p:txBody>
      </p:sp>
      <p:sp>
        <p:nvSpPr>
          <p:cNvPr id="4" name="Small GraphQL naive">
            <a:extLst xmlns:a="http://schemas.openxmlformats.org/drawingml/2006/main">
              <a:ext uri="{FF2B5EF4-FFF2-40B4-BE49-F238E27FC236}">
                <a16:creationId xmlns:a16="http://schemas.microsoft.com/office/drawing/2014/main" id="{62D425E3-C333-4B78-8D71-C578B60E34C7}"/>
              </a:ext>
            </a:extLst>
          </p:cNvPr>
          <p:cNvSpPr>
            <a:spLocks xmlns:a="http://schemas.openxmlformats.org/drawingml/2006/main" noGrp="1"/>
          </p:cNvSpPr>
          <p:nvPr/>
        </p:nvSpPr>
        <p:spPr>
          <a:xfrm xmlns:a="http://schemas.openxmlformats.org/drawingml/2006/main">
            <a:off x="647700" y="181927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23D61"/>
                </a:solidFill>
                <a:latin typeface="Arial"/>
                <a:ea typeface="Arial"/>
                <a:cs typeface="Arial"/>
              </a:defRPr>
            </a:defPPr>
          </a:lstStyle>
          <a:p xmlns:a="http://schemas.openxmlformats.org/drawingml/2006/main">
            <a:pPr>
              <a:defRPr sz="2400" b="1">
                <a:solidFill>
                  <a:srgbClr val="123D61"/>
                </a:solidFill>
                <a:latin typeface="Arial"/>
                <a:ea typeface="Arial"/>
                <a:cs typeface="Arial"/>
              </a:defRPr>
            </a:pPr>
            <a:r>
              <a:rPr sz="2400" b="1">
                <a:solidFill>
                  <a:srgbClr val="123D61"/>
                </a:solidFill>
                <a:latin typeface="Arial"/>
                <a:ea typeface="Arial"/>
                <a:cs typeface="Arial"/>
              </a:rPr>
              <a:t>Small GraphQL naive</a:t>
            </a:r>
          </a:p>
        </p:txBody>
      </p:sp>
      <p:sp>
        <p:nvSpPr>
          <p:cNvPr id="5" name="63,8 ms">
            <a:extLst xmlns:a="http://schemas.openxmlformats.org/drawingml/2006/main">
              <a:ext uri="{FF2B5EF4-FFF2-40B4-BE49-F238E27FC236}">
                <a16:creationId xmlns:a16="http://schemas.microsoft.com/office/drawing/2014/main" id="{878A7644-8BBB-43D2-8616-CE282279CE0D}"/>
              </a:ext>
            </a:extLst>
          </p:cNvPr>
          <p:cNvSpPr>
            <a:spLocks xmlns:a="http://schemas.openxmlformats.org/drawingml/2006/main" noGrp="1"/>
          </p:cNvSpPr>
          <p:nvPr/>
        </p:nvSpPr>
        <p:spPr>
          <a:xfrm xmlns:a="http://schemas.openxmlformats.org/drawingml/2006/main">
            <a:off x="647700" y="2486025"/>
            <a:ext cx="5715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0869B1"/>
                </a:solidFill>
                <a:latin typeface="Arial"/>
                <a:ea typeface="Arial"/>
                <a:cs typeface="Arial"/>
              </a:defRPr>
            </a:defPPr>
          </a:lstStyle>
          <a:p xmlns:a="http://schemas.openxmlformats.org/drawingml/2006/main">
            <a:pPr>
              <a:defRPr sz="5400" b="1">
                <a:solidFill>
                  <a:srgbClr val="0869B1"/>
                </a:solidFill>
                <a:latin typeface="Arial"/>
                <a:ea typeface="Arial"/>
                <a:cs typeface="Arial"/>
              </a:defRPr>
            </a:pPr>
            <a:r>
              <a:rPr sz="5400" b="1">
                <a:solidFill>
                  <a:srgbClr val="0869B1"/>
                </a:solidFill>
                <a:latin typeface="Arial"/>
                <a:ea typeface="Arial"/>
                <a:cs typeface="Arial"/>
              </a:rPr>
              <a:t>63,8 ms</a:t>
            </a:r>
          </a:p>
        </p:txBody>
      </p:sp>
      <p:sp>
        <p:nvSpPr>
          <p:cNvPr id="6" name="Small GraphQL loader">
            <a:extLst xmlns:a="http://schemas.openxmlformats.org/drawingml/2006/main">
              <a:ext uri="{FF2B5EF4-FFF2-40B4-BE49-F238E27FC236}">
                <a16:creationId xmlns:a16="http://schemas.microsoft.com/office/drawing/2014/main" id="{86201B1A-7605-44F9-AAB3-34A52903F306}"/>
              </a:ext>
            </a:extLst>
          </p:cNvPr>
          <p:cNvSpPr>
            <a:spLocks xmlns:a="http://schemas.openxmlformats.org/drawingml/2006/main" noGrp="1"/>
          </p:cNvSpPr>
          <p:nvPr/>
        </p:nvSpPr>
        <p:spPr>
          <a:xfrm xmlns:a="http://schemas.openxmlformats.org/drawingml/2006/main">
            <a:off x="6686550" y="1819275"/>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23D61"/>
                </a:solidFill>
                <a:latin typeface="Arial"/>
                <a:ea typeface="Arial"/>
                <a:cs typeface="Arial"/>
              </a:defRPr>
            </a:defPPr>
          </a:lstStyle>
          <a:p xmlns:a="http://schemas.openxmlformats.org/drawingml/2006/main">
            <a:pPr>
              <a:defRPr sz="2400" b="1">
                <a:solidFill>
                  <a:srgbClr val="123D61"/>
                </a:solidFill>
                <a:latin typeface="Arial"/>
                <a:ea typeface="Arial"/>
                <a:cs typeface="Arial"/>
              </a:defRPr>
            </a:pPr>
            <a:r>
              <a:rPr sz="2400" b="1">
                <a:solidFill>
                  <a:srgbClr val="123D61"/>
                </a:solidFill>
                <a:latin typeface="Arial"/>
                <a:ea typeface="Arial"/>
                <a:cs typeface="Arial"/>
              </a:rPr>
              <a:t>Small GraphQL loader</a:t>
            </a:r>
          </a:p>
        </p:txBody>
      </p:sp>
      <p:sp>
        <p:nvSpPr>
          <p:cNvPr id="7" name="72,2 ms">
            <a:extLst xmlns:a="http://schemas.openxmlformats.org/drawingml/2006/main">
              <a:ext uri="{FF2B5EF4-FFF2-40B4-BE49-F238E27FC236}">
                <a16:creationId xmlns:a16="http://schemas.microsoft.com/office/drawing/2014/main" id="{9AFB4630-39C8-4321-AF19-0215BB9BD087}"/>
              </a:ext>
            </a:extLst>
          </p:cNvPr>
          <p:cNvSpPr>
            <a:spLocks xmlns:a="http://schemas.openxmlformats.org/drawingml/2006/main" noGrp="1"/>
          </p:cNvSpPr>
          <p:nvPr/>
        </p:nvSpPr>
        <p:spPr>
          <a:xfrm xmlns:a="http://schemas.openxmlformats.org/drawingml/2006/main">
            <a:off x="6686550" y="2486025"/>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0869B1"/>
                </a:solidFill>
                <a:latin typeface="Arial"/>
                <a:ea typeface="Arial"/>
                <a:cs typeface="Arial"/>
              </a:defRPr>
            </a:defPPr>
          </a:lstStyle>
          <a:p xmlns:a="http://schemas.openxmlformats.org/drawingml/2006/main">
            <a:pPr>
              <a:defRPr sz="5400" b="1">
                <a:solidFill>
                  <a:srgbClr val="0869B1"/>
                </a:solidFill>
                <a:latin typeface="Arial"/>
                <a:ea typeface="Arial"/>
                <a:cs typeface="Arial"/>
              </a:defRPr>
            </a:pPr>
            <a:r>
              <a:rPr sz="5400" b="1">
                <a:solidFill>
                  <a:srgbClr val="0869B1"/>
                </a:solidFill>
                <a:latin typeface="Arial"/>
                <a:ea typeface="Arial"/>
                <a:cs typeface="Arial"/>
              </a:rPr>
              <a:t>72,2 ms</a:t>
            </a:r>
          </a:p>
        </p:txBody>
      </p:sp>
      <p:sp>
        <p:nvSpPr>
          <p:cNvPr id="8" name="Năm call nhỏ có thể chạy đồng thời trên ">
            <a:extLst xmlns:a="http://schemas.openxmlformats.org/drawingml/2006/main">
              <a:ext uri="{FF2B5EF4-FFF2-40B4-BE49-F238E27FC236}">
                <a16:creationId xmlns:a16="http://schemas.microsoft.com/office/drawing/2014/main" id="{AFF6C208-F4A1-49CB-B8FC-CF8793D8610B}"/>
              </a:ext>
            </a:extLst>
          </p:cNvPr>
          <p:cNvSpPr>
            <a:spLocks xmlns:a="http://schemas.openxmlformats.org/drawingml/2006/main" noGrp="1"/>
          </p:cNvSpPr>
          <p:nvPr/>
        </p:nvSpPr>
        <p:spPr>
          <a:xfrm xmlns:a="http://schemas.openxmlformats.org/drawingml/2006/main">
            <a:off x="647700" y="409575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83448"/>
                </a:solidFill>
                <a:latin typeface="Arial"/>
                <a:ea typeface="Arial"/>
                <a:cs typeface="Arial"/>
              </a:defRPr>
            </a:defPPr>
          </a:lstStyle>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Năm call nhỏ có thể chạy đồng thời trên localhost</a:t>
            </a:r>
          </a:p>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Loader có thêm chi phí gom key và ánh xạ</a:t>
            </a:r>
          </a:p>
          <a:p xmlns:a="http://schemas.openxmlformats.org/drawingml/2006/main">
            <a:pPr>
              <a:defRPr sz="2325" b="0">
                <a:solidFill>
                  <a:srgbClr val="183448"/>
                </a:solidFill>
                <a:latin typeface="Arial"/>
                <a:ea typeface="Arial"/>
                <a:cs typeface="Arial"/>
              </a:defRPr>
            </a:pPr>
            <a:r>
              <a:rPr sz="2325" b="0">
                <a:solidFill>
                  <a:srgbClr val="183448"/>
                </a:solidFill>
                <a:latin typeface="Arial"/>
                <a:ea typeface="Arial"/>
                <a:cs typeface="Arial"/>
              </a:rPr>
              <a:t>Chưa profile để xác định nguyên nhân chính</a:t>
            </a:r>
          </a:p>
        </p:txBody>
      </p:sp>
      <p:sp>
        <p:nvSpPr>
          <p:cNvPr id="9" name="Giảm call và giảm latency là hai chỉ số ">
            <a:extLst xmlns:a="http://schemas.openxmlformats.org/drawingml/2006/main">
              <a:ext uri="{FF2B5EF4-FFF2-40B4-BE49-F238E27FC236}">
                <a16:creationId xmlns:a16="http://schemas.microsoft.com/office/drawing/2014/main" id="{176D6352-BA37-42B8-8044-62C8F9D6E4BF}"/>
              </a:ext>
            </a:extLst>
          </p:cNvPr>
          <p:cNvSpPr>
            <a:spLocks xmlns:a="http://schemas.openxmlformats.org/drawingml/2006/main" noGrp="1"/>
          </p:cNvSpPr>
          <p:nvPr/>
        </p:nvSpPr>
        <p:spPr>
          <a:xfrm xmlns:a="http://schemas.openxmlformats.org/drawingml/2006/main">
            <a:off x="647700" y="5810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69B1"/>
                </a:solidFill>
                <a:latin typeface="Arial"/>
                <a:ea typeface="Arial"/>
                <a:cs typeface="Arial"/>
              </a:defRPr>
            </a:defPPr>
          </a:lstStyle>
          <a:p xmlns:a="http://schemas.openxmlformats.org/drawingml/2006/main">
            <a:pPr>
              <a:defRPr sz="2175" b="1">
                <a:solidFill>
                  <a:srgbClr val="0869B1"/>
                </a:solidFill>
                <a:latin typeface="Arial"/>
                <a:ea typeface="Arial"/>
                <a:cs typeface="Arial"/>
              </a:defRPr>
            </a:pPr>
            <a:r>
              <a:rPr sz="2175" b="1">
                <a:solidFill>
                  <a:srgbClr val="0869B1"/>
                </a:solidFill>
                <a:latin typeface="Arial"/>
                <a:ea typeface="Arial"/>
                <a:cs typeface="Arial"/>
              </a:rPr>
              <a:t>Giảm call và giảm latency là hai chỉ số riêng</a:t>
            </a:r>
          </a:p>
        </p:txBody>
      </p:sp>
    </p:spTree>
    <p:extLst>
      <p:ext uri="{BB962C8B-B14F-4D97-AF65-F5344CB8AC3E}">
        <p14:creationId xmlns:p14="http://schemas.microsoft.com/office/powerpoint/2010/main" val="13486623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A3229EA-301C-464F-9A10-5D78B67F9DEE}"/>
              </a:ext>
            </a:extLst>
          </p:cNvPr>
          <p:cNvSpPr>
            <a:spLocks xmlns:a="http://schemas.openxmlformats.org/drawingml/2006/main" noGrp="1"/>
          </p:cNvSpPr>
          <p:nvPr/>
        </p:nvSpPr>
        <p:spPr>
          <a:xfrm xmlns:a="http://schemas.openxmlformats.org/drawingml/2006/main">
            <a:off x="647700" y="55245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69B1"/>
                </a:solidFill>
                <a:latin typeface="Arial"/>
                <a:ea typeface="Arial"/>
                <a:cs typeface="Arial"/>
              </a:defRPr>
            </a:defPPr>
          </a:lstStyle>
          <a:p xmlns:a="http://schemas.openxmlformats.org/drawingml/2006/main">
            <a:pPr>
              <a:defRPr sz="3450" b="1">
                <a:solidFill>
                  <a:srgbClr val="0869B1"/>
                </a:solidFill>
                <a:latin typeface="Arial"/>
                <a:ea typeface="Arial"/>
                <a:cs typeface="Arial"/>
              </a:defRPr>
            </a:pPr>
            <a:r>
              <a:rPr sz="3450" b="1">
                <a:solidFill>
                  <a:srgbClr val="0869B1"/>
                </a:solidFill>
                <a:latin typeface="Arial"/>
                <a:ea typeface="Arial"/>
                <a:cs typeface="Arial"/>
              </a:rPr>
              <a:t>Phụ lục: Phạm vi xử lý lỗi và phép đo</a:t>
            </a:r>
          </a:p>
        </p:txBody>
      </p:sp>
      <p:sp>
        <p:nvSpPr>
          <p:cNvPr id="2" name="16">
            <a:extLst xmlns:a="http://schemas.openxmlformats.org/drawingml/2006/main">
              <a:ext uri="{FF2B5EF4-FFF2-40B4-BE49-F238E27FC236}">
                <a16:creationId xmlns:a16="http://schemas.microsoft.com/office/drawing/2014/main" id="{BACC1656-D766-4346-912A-F9B0F671F1A3}"/>
              </a:ext>
            </a:extLst>
          </p:cNvPr>
          <p:cNvSpPr>
            <a:spLocks xmlns:a="http://schemas.openxmlformats.org/drawingml/2006/main" noGrp="1"/>
          </p:cNvSpPr>
          <p:nvPr/>
        </p:nvSpPr>
        <p:spPr>
          <a:xfrm xmlns:a="http://schemas.openxmlformats.org/drawingml/2006/main">
            <a:off x="11049000" y="63531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16979"/>
                </a:solidFill>
                <a:latin typeface="Arial"/>
                <a:ea typeface="Arial"/>
                <a:cs typeface="Arial"/>
              </a:defRPr>
            </a:defPPr>
          </a:lstStyle>
          <a:p xmlns:a="http://schemas.openxmlformats.org/drawingml/2006/main">
            <a:pPr algn="r">
              <a:defRPr sz="1350" b="0">
                <a:solidFill>
                  <a:srgbClr val="516979"/>
                </a:solidFill>
                <a:latin typeface="Arial"/>
                <a:ea typeface="Arial"/>
                <a:cs typeface="Arial"/>
              </a:defRPr>
            </a:pPr>
            <a:r>
              <a:rPr sz="1350" b="0">
                <a:solidFill>
                  <a:srgbClr val="516979"/>
                </a:solidFill>
                <a:latin typeface="Arial"/>
                <a:ea typeface="Arial"/>
                <a:cs typeface="Arial"/>
              </a:rPr>
              <a:t>16</a:t>
            </a:r>
          </a:p>
        </p:txBody>
      </p:sp>
      <p:sp>
        <p:nvSpPr>
          <p:cNvPr id="3" name="Phản biện">
            <a:extLst xmlns:a="http://schemas.openxmlformats.org/drawingml/2006/main">
              <a:ext uri="{FF2B5EF4-FFF2-40B4-BE49-F238E27FC236}">
                <a16:creationId xmlns:a16="http://schemas.microsoft.com/office/drawing/2014/main" id="{5D8AAA7F-F067-4171-B7EF-4A84C4D490BA}"/>
              </a:ext>
            </a:extLst>
          </p:cNvPr>
          <p:cNvSpPr>
            <a:spLocks xmlns:a="http://schemas.openxmlformats.org/drawingml/2006/main" noGrp="1"/>
          </p:cNvSpPr>
          <p:nvPr/>
        </p:nvSpPr>
        <p:spPr>
          <a:xfrm xmlns:a="http://schemas.openxmlformats.org/drawingml/2006/main">
            <a:off x="647700" y="63912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16979"/>
                </a:solidFill>
                <a:latin typeface="Arial"/>
                <a:ea typeface="Arial"/>
                <a:cs typeface="Arial"/>
              </a:defRPr>
            </a:defPPr>
          </a:lstStyle>
          <a:p xmlns:a="http://schemas.openxmlformats.org/drawingml/2006/main">
            <a:pPr>
              <a:defRPr sz="1275" b="0">
                <a:solidFill>
                  <a:srgbClr val="516979"/>
                </a:solidFill>
                <a:latin typeface="Arial"/>
                <a:ea typeface="Arial"/>
                <a:cs typeface="Arial"/>
              </a:defRPr>
            </a:pPr>
            <a:r>
              <a:rPr sz="1275" b="0">
                <a:solidFill>
                  <a:srgbClr val="516979"/>
                </a:solidFill>
                <a:latin typeface="Arial"/>
                <a:ea typeface="Arial"/>
                <a:cs typeface="Arial"/>
              </a:rPr>
              <a:t>Phản biện</a:t>
            </a:r>
          </a:p>
        </p:txBody>
      </p:sp>
      <p:sp>
        <p:nvSpPr>
          <p:cNvPr id="4" name="01">
            <a:extLst xmlns:a="http://schemas.openxmlformats.org/drawingml/2006/main">
              <a:ext uri="{FF2B5EF4-FFF2-40B4-BE49-F238E27FC236}">
                <a16:creationId xmlns:a16="http://schemas.microsoft.com/office/drawing/2014/main" id="{723C9489-99D7-4BF3-91DD-7850D2B855C1}"/>
              </a:ext>
            </a:extLst>
          </p:cNvPr>
          <p:cNvSpPr>
            <a:spLocks xmlns:a="http://schemas.openxmlformats.org/drawingml/2006/main" noGrp="1"/>
          </p:cNvSpPr>
          <p:nvPr/>
        </p:nvSpPr>
        <p:spPr>
          <a:xfrm xmlns:a="http://schemas.openxmlformats.org/drawingml/2006/main">
            <a:off x="647700" y="17430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01</a:t>
            </a:r>
          </a:p>
        </p:txBody>
      </p:sp>
      <p:sp>
        <p:nvSpPr>
          <p:cNvPr id="5" name="Product nullable giữ orders khi resolver">
            <a:extLst xmlns:a="http://schemas.openxmlformats.org/drawingml/2006/main">
              <a:ext uri="{FF2B5EF4-FFF2-40B4-BE49-F238E27FC236}">
                <a16:creationId xmlns:a16="http://schemas.microsoft.com/office/drawing/2014/main" id="{0C0BB486-54EF-437F-A6E2-3D6D235229F1}"/>
              </a:ext>
            </a:extLst>
          </p:cNvPr>
          <p:cNvSpPr>
            <a:spLocks xmlns:a="http://schemas.openxmlformats.org/drawingml/2006/main" noGrp="1"/>
          </p:cNvSpPr>
          <p:nvPr/>
        </p:nvSpPr>
        <p:spPr>
          <a:xfrm xmlns:a="http://schemas.openxmlformats.org/drawingml/2006/main">
            <a:off x="1428750" y="1743075"/>
            <a:ext cx="9791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448"/>
                </a:solidFill>
                <a:latin typeface="Arial"/>
                <a:ea typeface="Arial"/>
                <a:cs typeface="Arial"/>
              </a:defRPr>
            </a:defPPr>
          </a:lstStyle>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Product nullable giữ orders khi resolver lỗi</a:t>
            </a:r>
          </a:p>
        </p:txBody>
      </p:sp>
      <p:sp>
        <p:nvSpPr>
          <p:cNvPr id="6" name="02">
            <a:extLst xmlns:a="http://schemas.openxmlformats.org/drawingml/2006/main">
              <a:ext uri="{FF2B5EF4-FFF2-40B4-BE49-F238E27FC236}">
                <a16:creationId xmlns:a16="http://schemas.microsoft.com/office/drawing/2014/main" id="{6B48ABD8-ACBD-461C-A8C8-DF3F01CB0A29}"/>
              </a:ext>
            </a:extLst>
          </p:cNvPr>
          <p:cNvSpPr>
            <a:spLocks xmlns:a="http://schemas.openxmlformats.org/drawingml/2006/main" noGrp="1"/>
          </p:cNvSpPr>
          <p:nvPr/>
        </p:nvSpPr>
        <p:spPr>
          <a:xfrm xmlns:a="http://schemas.openxmlformats.org/drawingml/2006/main">
            <a:off x="647700" y="27146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02</a:t>
            </a:r>
          </a:p>
        </p:txBody>
      </p:sp>
      <p:sp>
        <p:nvSpPr>
          <p:cNvPr id="7" name="ID thiếu: lỗi riêng cho key, không làm h">
            <a:extLst xmlns:a="http://schemas.openxmlformats.org/drawingml/2006/main">
              <a:ext uri="{FF2B5EF4-FFF2-40B4-BE49-F238E27FC236}">
                <a16:creationId xmlns:a16="http://schemas.microsoft.com/office/drawing/2014/main" id="{0527A05F-DCC5-4F8F-A352-CEBDDBB0FB7E}"/>
              </a:ext>
            </a:extLst>
          </p:cNvPr>
          <p:cNvSpPr>
            <a:spLocks xmlns:a="http://schemas.openxmlformats.org/drawingml/2006/main" noGrp="1"/>
          </p:cNvSpPr>
          <p:nvPr/>
        </p:nvSpPr>
        <p:spPr>
          <a:xfrm xmlns:a="http://schemas.openxmlformats.org/drawingml/2006/main">
            <a:off x="1428750" y="2714625"/>
            <a:ext cx="9791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448"/>
                </a:solidFill>
                <a:latin typeface="Arial"/>
                <a:ea typeface="Arial"/>
                <a:cs typeface="Arial"/>
              </a:defRPr>
            </a:defPPr>
          </a:lstStyle>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ID thiếu: lỗi riêng cho key, không làm hỏng cả batch</a:t>
            </a:r>
          </a:p>
        </p:txBody>
      </p:sp>
      <p:sp>
        <p:nvSpPr>
          <p:cNvPr id="8" name="03">
            <a:extLst xmlns:a="http://schemas.openxmlformats.org/drawingml/2006/main">
              <a:ext uri="{FF2B5EF4-FFF2-40B4-BE49-F238E27FC236}">
                <a16:creationId xmlns:a16="http://schemas.microsoft.com/office/drawing/2014/main" id="{C2EC0F02-8971-4E28-A052-63C91C980A25}"/>
              </a:ext>
            </a:extLst>
          </p:cNvPr>
          <p:cNvSpPr>
            <a:spLocks xmlns:a="http://schemas.openxmlformats.org/drawingml/2006/main" noGrp="1"/>
          </p:cNvSpPr>
          <p:nvPr/>
        </p:nvSpPr>
        <p:spPr>
          <a:xfrm xmlns:a="http://schemas.openxmlformats.org/drawingml/2006/main">
            <a:off x="647700" y="36861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03</a:t>
            </a:r>
          </a:p>
        </p:txBody>
      </p:sp>
      <p:sp>
        <p:nvSpPr>
          <p:cNvPr id="9" name="Abort fetch giới hạn chờ, chưa hủy công ">
            <a:extLst xmlns:a="http://schemas.openxmlformats.org/drawingml/2006/main">
              <a:ext uri="{FF2B5EF4-FFF2-40B4-BE49-F238E27FC236}">
                <a16:creationId xmlns:a16="http://schemas.microsoft.com/office/drawing/2014/main" id="{9C2B3B3D-9221-4940-9840-1353897778C6}"/>
              </a:ext>
            </a:extLst>
          </p:cNvPr>
          <p:cNvSpPr>
            <a:spLocks xmlns:a="http://schemas.openxmlformats.org/drawingml/2006/main" noGrp="1"/>
          </p:cNvSpPr>
          <p:nvPr/>
        </p:nvSpPr>
        <p:spPr>
          <a:xfrm xmlns:a="http://schemas.openxmlformats.org/drawingml/2006/main">
            <a:off x="1428750" y="3686175"/>
            <a:ext cx="9791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448"/>
                </a:solidFill>
                <a:latin typeface="Arial"/>
                <a:ea typeface="Arial"/>
                <a:cs typeface="Arial"/>
              </a:defRPr>
            </a:defPPr>
          </a:lstStyle>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Abort fetch giới hạn chờ, chưa hủy công việc phía Product</a:t>
            </a:r>
          </a:p>
        </p:txBody>
      </p:sp>
      <p:sp>
        <p:nvSpPr>
          <p:cNvPr id="10" name="04">
            <a:extLst xmlns:a="http://schemas.openxmlformats.org/drawingml/2006/main">
              <a:ext uri="{FF2B5EF4-FFF2-40B4-BE49-F238E27FC236}">
                <a16:creationId xmlns:a16="http://schemas.microsoft.com/office/drawing/2014/main" id="{96CC3193-59E3-40D0-98E3-7BEF6EEA28FA}"/>
              </a:ext>
            </a:extLst>
          </p:cNvPr>
          <p:cNvSpPr>
            <a:spLocks xmlns:a="http://schemas.openxmlformats.org/drawingml/2006/main" noGrp="1"/>
          </p:cNvSpPr>
          <p:nvPr/>
        </p:nvSpPr>
        <p:spPr>
          <a:xfrm xmlns:a="http://schemas.openxmlformats.org/drawingml/2006/main">
            <a:off x="647700" y="46577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69B1"/>
                </a:solidFill>
                <a:latin typeface="Arial"/>
                <a:ea typeface="Arial"/>
                <a:cs typeface="Arial"/>
              </a:defRPr>
            </a:defPPr>
          </a:lstStyle>
          <a:p xmlns:a="http://schemas.openxmlformats.org/drawingml/2006/main">
            <a:pPr>
              <a:defRPr sz="2550" b="1">
                <a:solidFill>
                  <a:srgbClr val="0869B1"/>
                </a:solidFill>
                <a:latin typeface="Arial"/>
                <a:ea typeface="Arial"/>
                <a:cs typeface="Arial"/>
              </a:defRPr>
            </a:pPr>
            <a:r>
              <a:rPr sz="2550" b="1">
                <a:solidFill>
                  <a:srgbClr val="0869B1"/>
                </a:solidFill>
                <a:latin typeface="Arial"/>
                <a:ea typeface="Arial"/>
                <a:cs typeface="Arial"/>
              </a:rPr>
              <a:t>04</a:t>
            </a:r>
          </a:p>
        </p:txBody>
      </p:sp>
      <p:sp>
        <p:nvSpPr>
          <p:cNvPr id="11" name="User/Order chưa có timeout; done đo DOM,">
            <a:extLst xmlns:a="http://schemas.openxmlformats.org/drawingml/2006/main">
              <a:ext uri="{FF2B5EF4-FFF2-40B4-BE49-F238E27FC236}">
                <a16:creationId xmlns:a16="http://schemas.microsoft.com/office/drawing/2014/main" id="{49B65560-E28A-4F38-A974-7DDB8190EF1B}"/>
              </a:ext>
            </a:extLst>
          </p:cNvPr>
          <p:cNvSpPr>
            <a:spLocks xmlns:a="http://schemas.openxmlformats.org/drawingml/2006/main" noGrp="1"/>
          </p:cNvSpPr>
          <p:nvPr/>
        </p:nvSpPr>
        <p:spPr>
          <a:xfrm xmlns:a="http://schemas.openxmlformats.org/drawingml/2006/main">
            <a:off x="1428750" y="4657725"/>
            <a:ext cx="9791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448"/>
                </a:solidFill>
                <a:latin typeface="Arial"/>
                <a:ea typeface="Arial"/>
                <a:cs typeface="Arial"/>
              </a:defRPr>
            </a:defPPr>
          </a:lstStyle>
          <a:p xmlns:a="http://schemas.openxmlformats.org/drawingml/2006/main">
            <a:pPr>
              <a:defRPr sz="2175" b="0">
                <a:solidFill>
                  <a:srgbClr val="183448"/>
                </a:solidFill>
                <a:latin typeface="Arial"/>
                <a:ea typeface="Arial"/>
                <a:cs typeface="Arial"/>
              </a:defRPr>
            </a:pPr>
            <a:r>
              <a:rPr sz="2175" b="0">
                <a:solidFill>
                  <a:srgbClr val="183448"/>
                </a:solidFill>
                <a:latin typeface="Arial"/>
                <a:ea typeface="Arial"/>
                <a:cs typeface="Arial"/>
              </a:rPr>
              <a:t>User/Order chưa có timeout; done đo DOM, chưa đo paint</a:t>
            </a:r>
          </a:p>
        </p:txBody>
      </p:sp>
      <p:sp>
        <p:nvSpPr>
          <p:cNvPr id="12" name="Service call có thể có, repository query">
            <a:extLst xmlns:a="http://schemas.openxmlformats.org/drawingml/2006/main">
              <a:ext uri="{FF2B5EF4-FFF2-40B4-BE49-F238E27FC236}">
                <a16:creationId xmlns:a16="http://schemas.microsoft.com/office/drawing/2014/main" id="{E758041D-0ACF-41C6-B528-EE32798D46E3}"/>
              </a:ext>
            </a:extLst>
          </p:cNvPr>
          <p:cNvSpPr>
            <a:spLocks xmlns:a="http://schemas.openxmlformats.org/drawingml/2006/main" noGrp="1"/>
          </p:cNvSpPr>
          <p:nvPr/>
        </p:nvSpPr>
        <p:spPr>
          <a:xfrm xmlns:a="http://schemas.openxmlformats.org/drawingml/2006/main">
            <a:off x="647700" y="58197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979"/>
                </a:solidFill>
                <a:latin typeface="Arial"/>
                <a:ea typeface="Arial"/>
                <a:cs typeface="Arial"/>
              </a:defRPr>
            </a:defPPr>
          </a:lstStyle>
          <a:p xmlns:a="http://schemas.openxmlformats.org/drawingml/2006/main">
            <a:pPr>
              <a:defRPr sz="1950" b="0">
                <a:solidFill>
                  <a:srgbClr val="516979"/>
                </a:solidFill>
                <a:latin typeface="Arial"/>
                <a:ea typeface="Arial"/>
                <a:cs typeface="Arial"/>
              </a:defRPr>
            </a:pPr>
            <a:r>
              <a:rPr sz="1950" b="0">
                <a:solidFill>
                  <a:srgbClr val="516979"/>
                </a:solidFill>
                <a:latin typeface="Arial"/>
                <a:ea typeface="Arial"/>
                <a:cs typeface="Arial"/>
              </a:rPr>
              <a:t>Service call có thể có, repository query chưa có khi Product trả 503</a:t>
            </a:r>
          </a:p>
        </p:txBody>
      </p:sp>
    </p:spTree>
    <p:extLst>
      <p:ext uri="{BB962C8B-B14F-4D97-AF65-F5344CB8AC3E}">
        <p14:creationId xmlns:p14="http://schemas.microsoft.com/office/powerpoint/2010/main" val="1063328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2026-10-08T03:01:54.1370000Z</dcterms:created>
  <dcterms:modified xsi:type="dcterms:W3CDTF">2026-10-08T03:01:54.1370000Z</dcterms:modified>
</coreProperties>
</file>